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2895" cy="3200400"/>
          </a:xfrm>
          <a:prstGeom prst="rect">
            <a:avLst/>
          </a:prstGeom>
          <a:noFill/>
        </p:spPr>
        <p:txBody>
          <a:bodyPr wrap="square">
            <a:spAutoFit/>
          </a:bodyPr>
          <a:lstStyle/>
          <a:p>
            <a:pPr algn="ctr">
              <a:defRPr sz="3600" b="1">
                <a:solidFill>
                  <a:srgbClr val="173B32"/>
                </a:solidFill>
              </a:defRPr>
            </a:pPr>
            <a:r>
              <a:t>AI-Powered Insurance Claims</a:t>
            </a:r>
            <a:br/>
            <a:r>
              <a:t>Decision Intelligence System</a:t>
            </a:r>
          </a:p>
          <a:p>
            <a:pPr algn="ctr">
              <a:spcBef>
                <a:spcPts val="1500"/>
              </a:spcBef>
              <a:defRPr sz="1400">
                <a:solidFill>
                  <a:srgbClr val="A3E635"/>
                </a:solidFill>
              </a:defRPr>
            </a:pPr>
            <a:r>
              <a:t>─────────────────────</a:t>
            </a:r>
          </a:p>
          <a:p>
            <a:pPr algn="ctr">
              <a:spcBef>
                <a:spcPts val="1500"/>
              </a:spcBef>
              <a:defRPr sz="1800" b="1">
                <a:solidFill>
                  <a:srgbClr val="101412"/>
                </a:solidFill>
              </a:defRPr>
            </a:pPr>
            <a:r>
              <a:t>Group 4  |  Academic Project Presentation (S1 &amp; S2 Master Deck)</a:t>
            </a:r>
          </a:p>
          <a:p>
            <a:pPr algn="ctr">
              <a:spcBef>
                <a:spcPts val="1200"/>
              </a:spcBef>
              <a:defRPr sz="1200">
                <a:solidFill>
                  <a:srgbClr val="475569"/>
                </a:solidFill>
              </a:defRPr>
            </a:pPr>
            <a:r>
              <a:t>Live Platform: claimsense360.vercel.app  |  Source Code: github.com/niharrrsahu/claimsense360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731520"/>
          </a:xfrm>
          <a:prstGeom prst="rect">
            <a:avLst/>
          </a:prstGeom>
          <a:noFill/>
        </p:spPr>
        <p:txBody>
          <a:bodyPr wrap="square">
            <a:spAutoFit/>
          </a:bodyPr>
          <a:lstStyle/>
          <a:p>
            <a:pPr>
              <a:defRPr sz="2800" b="1">
                <a:solidFill>
                  <a:srgbClr val="173B32"/>
                </a:solidFill>
              </a:defRPr>
            </a:pPr>
            <a:r>
              <a:t>Platform Type</a:t>
            </a:r>
          </a:p>
        </p:txBody>
      </p:sp>
      <p:sp>
        <p:nvSpPr>
          <p:cNvPr id="4" name="Rounded Rectangle 3"/>
          <p:cNvSpPr/>
          <p:nvPr/>
        </p:nvSpPr>
        <p:spPr>
          <a:xfrm>
            <a:off x="548640" y="1188720"/>
            <a:ext cx="11094415" cy="10058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98448"/>
            <a:ext cx="10728655" cy="777240"/>
          </a:xfrm>
          <a:prstGeom prst="rect">
            <a:avLst/>
          </a:prstGeom>
          <a:noFill/>
        </p:spPr>
        <p:txBody>
          <a:bodyPr wrap="square">
            <a:spAutoFit/>
          </a:bodyPr>
          <a:lstStyle/>
          <a:p>
            <a:pPr algn="ctr">
              <a:defRPr sz="2000" b="1">
                <a:solidFill>
                  <a:srgbClr val="FFFFFF"/>
                </a:solidFill>
              </a:defRPr>
            </a:pPr>
            <a:r>
              <a:t>WEB APPLICATION</a:t>
            </a:r>
          </a:p>
          <a:p>
            <a:pPr algn="ctr">
              <a:spcBef>
                <a:spcPts val="400"/>
              </a:spcBef>
              <a:defRPr sz="1300">
                <a:solidFill>
                  <a:srgbClr val="A3E635"/>
                </a:solidFill>
              </a:defRPr>
            </a:pPr>
            <a:r>
              <a:t>Centralized digital platform empowering users with intelligent, automated workflows</a:t>
            </a:r>
          </a:p>
        </p:txBody>
      </p:sp>
      <p:sp>
        <p:nvSpPr>
          <p:cNvPr id="6" name="Rounded Rectangle 5"/>
          <p:cNvSpPr/>
          <p:nvPr/>
        </p:nvSpPr>
        <p:spPr>
          <a:xfrm>
            <a:off x="548640" y="2377440"/>
            <a:ext cx="5303520" cy="3931920"/>
          </a:xfrm>
          <a:prstGeom prst="roundRect">
            <a:avLst/>
          </a:prstGeom>
          <a:solidFill>
            <a:srgbClr val="FFFFFF"/>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42032"/>
            <a:ext cx="4937760" cy="457200"/>
          </a:xfrm>
          <a:prstGeom prst="rect">
            <a:avLst/>
          </a:prstGeom>
          <a:noFill/>
        </p:spPr>
        <p:txBody>
          <a:bodyPr wrap="square">
            <a:spAutoFit/>
          </a:bodyPr>
          <a:lstStyle/>
          <a:p>
            <a:pPr>
              <a:defRPr sz="1600" b="1">
                <a:solidFill>
                  <a:srgbClr val="173B32"/>
                </a:solidFill>
              </a:defRPr>
            </a:pPr>
            <a:r>
              <a:t>Target Roles</a:t>
            </a:r>
          </a:p>
        </p:txBody>
      </p:sp>
      <p:sp>
        <p:nvSpPr>
          <p:cNvPr id="8" name="TextBox 7"/>
          <p:cNvSpPr txBox="1"/>
          <p:nvPr/>
        </p:nvSpPr>
        <p:spPr>
          <a:xfrm>
            <a:off x="731520" y="2926080"/>
            <a:ext cx="4937760" cy="3200400"/>
          </a:xfrm>
          <a:prstGeom prst="rect">
            <a:avLst/>
          </a:prstGeom>
          <a:noFill/>
        </p:spPr>
        <p:txBody>
          <a:bodyPr wrap="square">
            <a:spAutoFit/>
          </a:bodyPr>
          <a:lstStyle/>
          <a:p>
            <a:pPr>
              <a:defRPr sz="1300" b="1">
                <a:solidFill>
                  <a:srgbClr val="173B32"/>
                </a:solidFill>
              </a:defRPr>
            </a:pPr>
            <a:r>
              <a:t>▫ Insurance Customers</a:t>
            </a:r>
          </a:p>
          <a:p>
            <a:pPr>
              <a:defRPr sz="1100">
                <a:solidFill>
                  <a:srgbClr val="475569"/>
                </a:solidFill>
              </a:defRPr>
            </a:pPr>
            <a:r>
              <a:t>    File claims, upload evidence, and track settlement status in real-time.</a:t>
            </a:r>
          </a:p>
          <a:p>
            <a:pPr>
              <a:spcBef>
                <a:spcPts val="800"/>
              </a:spcBef>
              <a:defRPr sz="1300" b="1">
                <a:solidFill>
                  <a:srgbClr val="173B32"/>
                </a:solidFill>
              </a:defRPr>
            </a:pPr>
            <a:r>
              <a:t>▫ Claims Investigators</a:t>
            </a:r>
          </a:p>
          <a:p>
            <a:pPr>
              <a:defRPr sz="1100">
                <a:solidFill>
                  <a:srgbClr val="475569"/>
                </a:solidFill>
              </a:defRPr>
            </a:pPr>
            <a:r>
              <a:t>    Review AI risk scores, investigate anomalies, and adjudicate claims.</a:t>
            </a:r>
          </a:p>
          <a:p>
            <a:pPr>
              <a:spcBef>
                <a:spcPts val="800"/>
              </a:spcBef>
              <a:defRPr sz="1300" b="1">
                <a:solidFill>
                  <a:srgbClr val="173B32"/>
                </a:solidFill>
              </a:defRPr>
            </a:pPr>
            <a:r>
              <a:t>▫ Insurance Managers</a:t>
            </a:r>
          </a:p>
          <a:p>
            <a:pPr>
              <a:defRPr sz="1100">
                <a:solidFill>
                  <a:srgbClr val="475569"/>
                </a:solidFill>
              </a:defRPr>
            </a:pPr>
            <a:r>
              <a:t>    Oversee KPIs, manage team workloads, and approve high-value payouts.</a:t>
            </a:r>
          </a:p>
          <a:p>
            <a:pPr>
              <a:spcBef>
                <a:spcPts val="800"/>
              </a:spcBef>
              <a:defRPr sz="1300" b="1">
                <a:solidFill>
                  <a:srgbClr val="173B32"/>
                </a:solidFill>
              </a:defRPr>
            </a:pPr>
            <a:r>
              <a:t>▫ Admin</a:t>
            </a:r>
          </a:p>
          <a:p>
            <a:pPr>
              <a:defRPr sz="1100">
                <a:solidFill>
                  <a:srgbClr val="475569"/>
                </a:solidFill>
              </a:defRPr>
            </a:pPr>
            <a:r>
              <a:t>    Configure platform settings, manage roles, and ensure data security.</a:t>
            </a:r>
          </a:p>
        </p:txBody>
      </p:sp>
      <p:sp>
        <p:nvSpPr>
          <p:cNvPr id="9" name="Rounded Rectangle 8"/>
          <p:cNvSpPr/>
          <p:nvPr/>
        </p:nvSpPr>
        <p:spPr>
          <a:xfrm>
            <a:off x="6217920" y="2377440"/>
            <a:ext cx="5303520" cy="3931920"/>
          </a:xfrm>
          <a:prstGeom prst="roundRect">
            <a:avLst/>
          </a:prstGeom>
          <a:solidFill>
            <a:srgbClr val="FFFFFF"/>
          </a:solidFill>
          <a:ln w="25400">
            <a:solidFill>
              <a:srgbClr val="A3E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542032"/>
            <a:ext cx="4937760" cy="457200"/>
          </a:xfrm>
          <a:prstGeom prst="rect">
            <a:avLst/>
          </a:prstGeom>
          <a:noFill/>
        </p:spPr>
        <p:txBody>
          <a:bodyPr wrap="square">
            <a:spAutoFit/>
          </a:bodyPr>
          <a:lstStyle/>
          <a:p>
            <a:pPr>
              <a:defRPr sz="1600" b="1">
                <a:solidFill>
                  <a:srgbClr val="173B32"/>
                </a:solidFill>
              </a:defRPr>
            </a:pPr>
            <a:r>
              <a:t>Main Modules</a:t>
            </a:r>
          </a:p>
        </p:txBody>
      </p:sp>
      <p:sp>
        <p:nvSpPr>
          <p:cNvPr id="11" name="TextBox 10"/>
          <p:cNvSpPr txBox="1"/>
          <p:nvPr/>
        </p:nvSpPr>
        <p:spPr>
          <a:xfrm>
            <a:off x="6400800" y="2926080"/>
            <a:ext cx="4937760" cy="3200400"/>
          </a:xfrm>
          <a:prstGeom prst="rect">
            <a:avLst/>
          </a:prstGeom>
          <a:noFill/>
        </p:spPr>
        <p:txBody>
          <a:bodyPr wrap="square">
            <a:spAutoFit/>
          </a:bodyPr>
          <a:lstStyle/>
          <a:p>
            <a:pPr>
              <a:spcAft>
                <a:spcPts val="400"/>
              </a:spcAft>
              <a:defRPr sz="1100">
                <a:solidFill>
                  <a:srgbClr val="101412"/>
                </a:solidFill>
              </a:defRPr>
            </a:pPr>
            <a:r>
              <a:t>▫ User Login &amp; Auth (Secure role-based access)</a:t>
            </a:r>
          </a:p>
          <a:p>
            <a:pPr>
              <a:spcAft>
                <a:spcPts val="400"/>
              </a:spcAft>
              <a:defRPr sz="1100">
                <a:solidFill>
                  <a:srgbClr val="101412"/>
                </a:solidFill>
              </a:defRPr>
            </a:pPr>
            <a:r>
              <a:t>▫ AI Fraud Detection (ML algorithms to flag risk)</a:t>
            </a:r>
          </a:p>
          <a:p>
            <a:pPr>
              <a:spcAft>
                <a:spcPts val="400"/>
              </a:spcAft>
              <a:defRPr sz="1100">
                <a:solidFill>
                  <a:srgbClr val="101412"/>
                </a:solidFill>
              </a:defRPr>
            </a:pPr>
            <a:r>
              <a:t>▫ Fraud Ring Detection (Graph analytics networks)</a:t>
            </a:r>
          </a:p>
          <a:p>
            <a:pPr>
              <a:spcAft>
                <a:spcPts val="400"/>
              </a:spcAft>
              <a:defRPr sz="1100">
                <a:solidFill>
                  <a:srgbClr val="101412"/>
                </a:solidFill>
              </a:defRPr>
            </a:pPr>
            <a:r>
              <a:t>▫ Investigation Dashboard (Central evidence workspace)</a:t>
            </a:r>
          </a:p>
          <a:p>
            <a:pPr>
              <a:spcAft>
                <a:spcPts val="400"/>
              </a:spcAft>
              <a:defRPr sz="1100">
                <a:solidFill>
                  <a:srgbClr val="101412"/>
                </a:solidFill>
              </a:defRPr>
            </a:pPr>
            <a:r>
              <a:t>▫ Admin Panel (System configuration &amp; audit)</a:t>
            </a:r>
          </a:p>
          <a:p>
            <a:pPr>
              <a:spcAft>
                <a:spcPts val="400"/>
              </a:spcAft>
              <a:defRPr sz="1100">
                <a:solidFill>
                  <a:srgbClr val="101412"/>
                </a:solidFill>
              </a:defRPr>
            </a:pPr>
            <a:r>
              <a:t>▫ Claims Management (Automated end-to-end routing)</a:t>
            </a:r>
          </a:p>
          <a:p>
            <a:pPr>
              <a:spcAft>
                <a:spcPts val="400"/>
              </a:spcAft>
              <a:defRPr sz="1100">
                <a:solidFill>
                  <a:srgbClr val="101412"/>
                </a:solidFill>
              </a:defRPr>
            </a:pPr>
            <a:r>
              <a:t>▫ Damage Image Analysis (CV severity assessment)</a:t>
            </a:r>
          </a:p>
          <a:p>
            <a:pPr>
              <a:spcAft>
                <a:spcPts val="400"/>
              </a:spcAft>
              <a:defRPr sz="1100">
                <a:solidFill>
                  <a:srgbClr val="101412"/>
                </a:solidFill>
              </a:defRPr>
            </a:pPr>
            <a:r>
              <a:t>▫ AI Investigator Copilot (GenAI case assistant)</a:t>
            </a:r>
          </a:p>
          <a:p>
            <a:pPr>
              <a:spcAft>
                <a:spcPts val="400"/>
              </a:spcAft>
              <a:defRPr sz="1100">
                <a:solidFill>
                  <a:srgbClr val="101412"/>
                </a:solidFill>
              </a:defRPr>
            </a:pPr>
            <a:r>
              <a:t>▫ Reports &amp; Analytics (Interactive BI dashboards)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731520"/>
          </a:xfrm>
          <a:prstGeom prst="rect">
            <a:avLst/>
          </a:prstGeom>
          <a:noFill/>
        </p:spPr>
        <p:txBody>
          <a:bodyPr wrap="square">
            <a:spAutoFit/>
          </a:bodyPr>
          <a:lstStyle/>
          <a:p>
            <a:pPr>
              <a:defRPr sz="2800" b="1">
                <a:solidFill>
                  <a:srgbClr val="173B32"/>
                </a:solidFill>
              </a:defRPr>
            </a:pPr>
            <a:r>
              <a:t>Problem Statement</a:t>
            </a:r>
          </a:p>
        </p:txBody>
      </p:sp>
      <p:sp>
        <p:nvSpPr>
          <p:cNvPr id="4" name="Rounded Rectangle 3"/>
          <p:cNvSpPr/>
          <p:nvPr/>
        </p:nvSpPr>
        <p:spPr>
          <a:xfrm>
            <a:off x="548640" y="1280160"/>
            <a:ext cx="5303520" cy="3931920"/>
          </a:xfrm>
          <a:prstGeom prst="roundRect">
            <a:avLst/>
          </a:prstGeom>
          <a:solidFill>
            <a:srgbClr val="FFFFFF"/>
          </a:solidFill>
          <a:ln w="25400">
            <a:solidFill>
              <a:srgbClr val="FF7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44752"/>
            <a:ext cx="4937760" cy="457200"/>
          </a:xfrm>
          <a:prstGeom prst="rect">
            <a:avLst/>
          </a:prstGeom>
          <a:noFill/>
        </p:spPr>
        <p:txBody>
          <a:bodyPr wrap="square">
            <a:spAutoFit/>
          </a:bodyPr>
          <a:lstStyle/>
          <a:p>
            <a:pPr>
              <a:defRPr sz="1600" b="1">
                <a:solidFill>
                  <a:srgbClr val="173B32"/>
                </a:solidFill>
              </a:defRPr>
            </a:pPr>
            <a:r>
              <a:t>The Challenge &amp; Limitations</a:t>
            </a:r>
          </a:p>
        </p:txBody>
      </p:sp>
      <p:sp>
        <p:nvSpPr>
          <p:cNvPr id="6" name="TextBox 5"/>
          <p:cNvSpPr txBox="1"/>
          <p:nvPr/>
        </p:nvSpPr>
        <p:spPr>
          <a:xfrm>
            <a:off x="731520" y="1920240"/>
            <a:ext cx="4937760" cy="3108960"/>
          </a:xfrm>
          <a:prstGeom prst="rect">
            <a:avLst/>
          </a:prstGeom>
          <a:noFill/>
        </p:spPr>
        <p:txBody>
          <a:bodyPr wrap="square">
            <a:spAutoFit/>
          </a:bodyPr>
          <a:lstStyle/>
          <a:p>
            <a:pPr>
              <a:defRPr sz="1300">
                <a:solidFill>
                  <a:srgbClr val="101412"/>
                </a:solidFill>
              </a:defRPr>
            </a:pPr>
            <a:r>
              <a:t>Insurance companies process thousands of claims daily, but most are still verified manually by reviewing documents, invoices, and damage images. This process is slow, costly, and prone to missing fraudulent claims.</a:t>
            </a:r>
          </a:p>
          <a:p>
            <a:pPr>
              <a:spcBef>
                <a:spcPts val="1200"/>
              </a:spcBef>
              <a:defRPr sz="1300" b="1">
                <a:solidFill>
                  <a:srgbClr val="173B32"/>
                </a:solidFill>
              </a:defRPr>
            </a:pPr>
            <a:r>
              <a:t>Existing systems rely on rule-based checks or standalone ML models that cannot detect organized fraud, duplicate evidence, or hidden relationships between claimants.</a:t>
            </a:r>
          </a:p>
        </p:txBody>
      </p:sp>
      <p:sp>
        <p:nvSpPr>
          <p:cNvPr id="7" name="Rounded Rectangle 6"/>
          <p:cNvSpPr/>
          <p:nvPr/>
        </p:nvSpPr>
        <p:spPr>
          <a:xfrm>
            <a:off x="6217920" y="1280160"/>
            <a:ext cx="5303520" cy="3931920"/>
          </a:xfrm>
          <a:prstGeom prst="roundRect">
            <a:avLst/>
          </a:prstGeom>
          <a:solidFill>
            <a:srgbClr val="FFFFFF"/>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44752"/>
            <a:ext cx="4937760" cy="457200"/>
          </a:xfrm>
          <a:prstGeom prst="rect">
            <a:avLst/>
          </a:prstGeom>
          <a:noFill/>
        </p:spPr>
        <p:txBody>
          <a:bodyPr wrap="square">
            <a:spAutoFit/>
          </a:bodyPr>
          <a:lstStyle/>
          <a:p>
            <a:pPr>
              <a:defRPr sz="1600" b="1">
                <a:solidFill>
                  <a:srgbClr val="173B32"/>
                </a:solidFill>
              </a:defRPr>
            </a:pPr>
            <a:r>
              <a:t>Real-World Scenario</a:t>
            </a:r>
          </a:p>
        </p:txBody>
      </p:sp>
      <p:sp>
        <p:nvSpPr>
          <p:cNvPr id="9" name="TextBox 8"/>
          <p:cNvSpPr txBox="1"/>
          <p:nvPr/>
        </p:nvSpPr>
        <p:spPr>
          <a:xfrm>
            <a:off x="6400800" y="1828800"/>
            <a:ext cx="4937760" cy="3200400"/>
          </a:xfrm>
          <a:prstGeom prst="rect">
            <a:avLst/>
          </a:prstGeom>
          <a:noFill/>
        </p:spPr>
        <p:txBody>
          <a:bodyPr wrap="square">
            <a:spAutoFit/>
          </a:bodyPr>
          <a:lstStyle/>
          <a:p>
            <a:pPr>
              <a:defRPr sz="1200" i="1">
                <a:solidFill>
                  <a:srgbClr val="173B32"/>
                </a:solidFill>
              </a:defRPr>
            </a:pPr>
            <a:r>
              <a:t>“A customer submits a vehicle damage claim with photos and a repair invoice. Although the claim appears genuine, the system flags it.”</a:t>
            </a:r>
          </a:p>
          <a:p>
            <a:br/>
            <a:pPr>
              <a:defRPr sz="1200" b="1">
                <a:solidFill>
                  <a:srgbClr val="101412"/>
                </a:solidFill>
              </a:defRPr>
            </a:pPr>
            <a:r>
              <a:t>The system immediately detects:</a:t>
            </a:r>
          </a:p>
          <a:p>
            <a:pPr>
              <a:spcBef>
                <a:spcPts val="600"/>
              </a:spcBef>
              <a:defRPr sz="1200">
                <a:solidFill>
                  <a:srgbClr val="101412"/>
                </a:solidFill>
              </a:defRPr>
            </a:pPr>
            <a:r>
              <a:t>• Duplicate damage images originating from previous, already-settled claims.</a:t>
            </a:r>
          </a:p>
          <a:p>
            <a:pPr>
              <a:spcBef>
                <a:spcPts val="600"/>
              </a:spcBef>
              <a:defRPr sz="1200">
                <a:solidFill>
                  <a:srgbClr val="101412"/>
                </a:solidFill>
              </a:defRPr>
            </a:pPr>
            <a:r>
              <a:t>• Hidden links between the claimant, the repair garage, and other policyholders indicating a fraud ring.</a:t>
            </a:r>
          </a:p>
        </p:txBody>
      </p:sp>
      <p:sp>
        <p:nvSpPr>
          <p:cNvPr id="10" name="Rounded Rectangle 9"/>
          <p:cNvSpPr/>
          <p:nvPr/>
        </p:nvSpPr>
        <p:spPr>
          <a:xfrm>
            <a:off x="548640" y="5394960"/>
            <a:ext cx="11094415" cy="10058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504688"/>
            <a:ext cx="10728655" cy="777240"/>
          </a:xfrm>
          <a:prstGeom prst="rect">
            <a:avLst/>
          </a:prstGeom>
          <a:noFill/>
        </p:spPr>
        <p:txBody>
          <a:bodyPr wrap="square">
            <a:spAutoFit/>
          </a:bodyPr>
          <a:lstStyle/>
          <a:p>
            <a:pPr algn="ctr">
              <a:defRPr sz="2000" b="1">
                <a:solidFill>
                  <a:srgbClr val="FFFFFF"/>
                </a:solidFill>
              </a:defRPr>
            </a:pPr>
            <a:r>
              <a:t>THE AI-DRIVEN SOLUTION</a:t>
            </a:r>
          </a:p>
          <a:p>
            <a:pPr algn="ctr">
              <a:spcBef>
                <a:spcPts val="400"/>
              </a:spcBef>
              <a:defRPr sz="1300">
                <a:solidFill>
                  <a:srgbClr val="A3E635"/>
                </a:solidFill>
              </a:defRPr>
            </a:pPr>
            <a:r>
              <a:t>Using Computer Vision, Machine Learning, Graph Analytics, and Explainable AI, the system identifies fraud risks and assists investigators in making faster, more accurate decisions.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731520"/>
          </a:xfrm>
          <a:prstGeom prst="rect">
            <a:avLst/>
          </a:prstGeom>
          <a:noFill/>
        </p:spPr>
        <p:txBody>
          <a:bodyPr wrap="square">
            <a:spAutoFit/>
          </a:bodyPr>
          <a:lstStyle/>
          <a:p>
            <a:pPr>
              <a:defRPr sz="2800" b="1">
                <a:solidFill>
                  <a:srgbClr val="173B32"/>
                </a:solidFill>
              </a:defRPr>
            </a:pPr>
            <a:r>
              <a:t>PROBLEMS IN THE CURRENT SYSTEM</a:t>
            </a:r>
          </a:p>
        </p:txBody>
      </p:sp>
      <p:sp>
        <p:nvSpPr>
          <p:cNvPr id="4" name="Rounded Rectangle 3"/>
          <p:cNvSpPr/>
          <p:nvPr/>
        </p:nvSpPr>
        <p:spPr>
          <a:xfrm>
            <a:off x="548640" y="1371600"/>
            <a:ext cx="3474720" cy="4846320"/>
          </a:xfrm>
          <a:prstGeom prst="roundRect">
            <a:avLst/>
          </a:prstGeom>
          <a:solidFill>
            <a:srgbClr val="FFFFFF"/>
          </a:solidFill>
          <a:ln w="25400">
            <a:solidFill>
              <a:srgbClr val="FF7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36192"/>
            <a:ext cx="3108960" cy="457200"/>
          </a:xfrm>
          <a:prstGeom prst="rect">
            <a:avLst/>
          </a:prstGeom>
          <a:noFill/>
        </p:spPr>
        <p:txBody>
          <a:bodyPr wrap="square">
            <a:spAutoFit/>
          </a:bodyPr>
          <a:lstStyle/>
          <a:p>
            <a:pPr>
              <a:defRPr sz="1600" b="1">
                <a:solidFill>
                  <a:srgbClr val="173B32"/>
                </a:solidFill>
              </a:defRPr>
            </a:pPr>
            <a:r>
              <a:t>⏱ Manual Inefficiency</a:t>
            </a:r>
          </a:p>
        </p:txBody>
      </p:sp>
      <p:sp>
        <p:nvSpPr>
          <p:cNvPr id="6" name="TextBox 5"/>
          <p:cNvSpPr txBox="1"/>
          <p:nvPr/>
        </p:nvSpPr>
        <p:spPr>
          <a:xfrm>
            <a:off x="731520" y="2011680"/>
            <a:ext cx="3108960" cy="3931920"/>
          </a:xfrm>
          <a:prstGeom prst="rect">
            <a:avLst/>
          </a:prstGeom>
          <a:noFill/>
        </p:spPr>
        <p:txBody>
          <a:bodyPr wrap="square">
            <a:spAutoFit/>
          </a:bodyPr>
          <a:lstStyle/>
          <a:p>
            <a:pPr>
              <a:defRPr sz="1200">
                <a:solidFill>
                  <a:srgbClr val="101412"/>
                </a:solidFill>
              </a:defRPr>
            </a:pPr>
            <a:r>
              <a:t>• Manual claim verification takes a long time (14 to 30 days per claim).</a:t>
            </a:r>
          </a:p>
          <a:p>
            <a:pPr>
              <a:spcBef>
                <a:spcPts val="1000"/>
              </a:spcBef>
              <a:defRPr sz="1200">
                <a:solidFill>
                  <a:srgbClr val="101412"/>
                </a:solidFill>
              </a:defRPr>
            </a:pPr>
            <a:r>
              <a:t>• Investigators manually decide which suspicious claims should be investigated first without objective scoring.</a:t>
            </a:r>
          </a:p>
          <a:p>
            <a:pPr>
              <a:spcBef>
                <a:spcPts val="1000"/>
              </a:spcBef>
              <a:defRPr sz="1200">
                <a:solidFill>
                  <a:srgbClr val="101412"/>
                </a:solidFill>
              </a:defRPr>
            </a:pPr>
            <a:r>
              <a:t>• High labor cost and delayed payout processing for genuine customers.</a:t>
            </a:r>
          </a:p>
        </p:txBody>
      </p:sp>
      <p:sp>
        <p:nvSpPr>
          <p:cNvPr id="7" name="Rounded Rectangle 6"/>
          <p:cNvSpPr/>
          <p:nvPr/>
        </p:nvSpPr>
        <p:spPr>
          <a:xfrm>
            <a:off x="4297679" y="1371600"/>
            <a:ext cx="3474720" cy="4846320"/>
          </a:xfrm>
          <a:prstGeom prst="roundRect">
            <a:avLst/>
          </a:prstGeom>
          <a:solidFill>
            <a:srgbClr val="FFFFFF"/>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59" y="1536192"/>
            <a:ext cx="3108960" cy="457200"/>
          </a:xfrm>
          <a:prstGeom prst="rect">
            <a:avLst/>
          </a:prstGeom>
          <a:noFill/>
        </p:spPr>
        <p:txBody>
          <a:bodyPr wrap="square">
            <a:spAutoFit/>
          </a:bodyPr>
          <a:lstStyle/>
          <a:p>
            <a:pPr>
              <a:defRPr sz="1600" b="1">
                <a:solidFill>
                  <a:srgbClr val="173B32"/>
                </a:solidFill>
              </a:defRPr>
            </a:pPr>
            <a:r>
              <a:t>⛓ Siloed Data</a:t>
            </a:r>
          </a:p>
        </p:txBody>
      </p:sp>
      <p:sp>
        <p:nvSpPr>
          <p:cNvPr id="9" name="TextBox 8"/>
          <p:cNvSpPr txBox="1"/>
          <p:nvPr/>
        </p:nvSpPr>
        <p:spPr>
          <a:xfrm>
            <a:off x="4480559" y="2011680"/>
            <a:ext cx="3108960" cy="3931920"/>
          </a:xfrm>
          <a:prstGeom prst="rect">
            <a:avLst/>
          </a:prstGeom>
          <a:noFill/>
        </p:spPr>
        <p:txBody>
          <a:bodyPr wrap="square">
            <a:spAutoFit/>
          </a:bodyPr>
          <a:lstStyle/>
          <a:p>
            <a:pPr>
              <a:defRPr sz="1200">
                <a:solidFill>
                  <a:srgbClr val="101412"/>
                </a:solidFill>
              </a:defRPr>
            </a:pPr>
            <a:r>
              <a:t>• Existing systems analyze each claim separately instead of finding hidden connections between multiple claims.</a:t>
            </a:r>
          </a:p>
          <a:p>
            <a:pPr>
              <a:spcBef>
                <a:spcPts val="1000"/>
              </a:spcBef>
              <a:defRPr sz="1200">
                <a:solidFill>
                  <a:srgbClr val="101412"/>
                </a:solidFill>
              </a:defRPr>
            </a:pPr>
            <a:r>
              <a:t>• Damage images, claim descriptions, and customer information are reviewed independently without cross-verification.</a:t>
            </a:r>
          </a:p>
        </p:txBody>
      </p:sp>
      <p:sp>
        <p:nvSpPr>
          <p:cNvPr id="10" name="Rounded Rectangle 9"/>
          <p:cNvSpPr/>
          <p:nvPr/>
        </p:nvSpPr>
        <p:spPr>
          <a:xfrm>
            <a:off x="8046719" y="1371600"/>
            <a:ext cx="3474720" cy="4846320"/>
          </a:xfrm>
          <a:prstGeom prst="roundRect">
            <a:avLst/>
          </a:prstGeom>
          <a:solidFill>
            <a:srgbClr val="FFFFFF"/>
          </a:solidFill>
          <a:ln w="25400">
            <a:solidFill>
              <a:srgbClr val="A3E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9" y="1536192"/>
            <a:ext cx="3108960" cy="457200"/>
          </a:xfrm>
          <a:prstGeom prst="rect">
            <a:avLst/>
          </a:prstGeom>
          <a:noFill/>
        </p:spPr>
        <p:txBody>
          <a:bodyPr wrap="square">
            <a:spAutoFit/>
          </a:bodyPr>
          <a:lstStyle/>
          <a:p>
            <a:pPr>
              <a:defRPr sz="1600" b="1">
                <a:solidFill>
                  <a:srgbClr val="173B32"/>
                </a:solidFill>
              </a:defRPr>
            </a:pPr>
            <a:r>
              <a:t>🤖 Limited &amp; Opaque AI</a:t>
            </a:r>
          </a:p>
        </p:txBody>
      </p:sp>
      <p:sp>
        <p:nvSpPr>
          <p:cNvPr id="12" name="TextBox 11"/>
          <p:cNvSpPr txBox="1"/>
          <p:nvPr/>
        </p:nvSpPr>
        <p:spPr>
          <a:xfrm>
            <a:off x="8229599" y="2011680"/>
            <a:ext cx="3108960" cy="3931920"/>
          </a:xfrm>
          <a:prstGeom prst="rect">
            <a:avLst/>
          </a:prstGeom>
          <a:noFill/>
        </p:spPr>
        <p:txBody>
          <a:bodyPr wrap="square">
            <a:spAutoFit/>
          </a:bodyPr>
          <a:lstStyle/>
          <a:p>
            <a:pPr>
              <a:defRPr sz="1200">
                <a:solidFill>
                  <a:srgbClr val="101412"/>
                </a:solidFill>
              </a:defRPr>
            </a:pPr>
            <a:r>
              <a:t>• Fraud detection mainly depends on a single machine learning model.</a:t>
            </a:r>
          </a:p>
          <a:p>
            <a:pPr>
              <a:spcBef>
                <a:spcPts val="1000"/>
              </a:spcBef>
              <a:defRPr sz="1200">
                <a:solidFill>
                  <a:srgbClr val="101412"/>
                </a:solidFill>
              </a:defRPr>
            </a:pPr>
            <a:r>
              <a:t>• AI predictions often work as a 'black box' without explaining why a claim was flagged.</a:t>
            </a:r>
          </a:p>
          <a:p>
            <a:pPr>
              <a:spcBef>
                <a:spcPts val="1000"/>
              </a:spcBef>
              <a:defRPr sz="1200">
                <a:solidFill>
                  <a:srgbClr val="101412"/>
                </a:solidFill>
              </a:defRPr>
            </a:pPr>
            <a:r>
              <a:t>• Existing systems rarely monitor whether AI predictions are fair and unbiased.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731520"/>
          </a:xfrm>
          <a:prstGeom prst="rect">
            <a:avLst/>
          </a:prstGeom>
          <a:noFill/>
        </p:spPr>
        <p:txBody>
          <a:bodyPr wrap="square">
            <a:spAutoFit/>
          </a:bodyPr>
          <a:lstStyle/>
          <a:p>
            <a:pPr>
              <a:defRPr sz="2800" b="1">
                <a:solidFill>
                  <a:srgbClr val="173B32"/>
                </a:solidFill>
              </a:defRPr>
            </a:pPr>
            <a:r>
              <a:t>HOW THE CURRENT SYSTEM HANDLES THIS</a:t>
            </a:r>
          </a:p>
        </p:txBody>
      </p:sp>
      <p:sp>
        <p:nvSpPr>
          <p:cNvPr id="4" name="Rounded Rectangle 3"/>
          <p:cNvSpPr/>
          <p:nvPr/>
        </p:nvSpPr>
        <p:spPr>
          <a:xfrm>
            <a:off x="548640" y="1371600"/>
            <a:ext cx="5303520" cy="4846320"/>
          </a:xfrm>
          <a:prstGeom prst="roundRect">
            <a:avLst/>
          </a:prstGeom>
          <a:solidFill>
            <a:srgbClr val="FFFFFF"/>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36192"/>
            <a:ext cx="4937760" cy="457200"/>
          </a:xfrm>
          <a:prstGeom prst="rect">
            <a:avLst/>
          </a:prstGeom>
          <a:noFill/>
        </p:spPr>
        <p:txBody>
          <a:bodyPr wrap="square">
            <a:spAutoFit/>
          </a:bodyPr>
          <a:lstStyle/>
          <a:p>
            <a:pPr>
              <a:defRPr sz="1600" b="1">
                <a:solidFill>
                  <a:srgbClr val="173B32"/>
                </a:solidFill>
              </a:defRPr>
            </a:pPr>
            <a:r>
              <a:t>💻 Standard Capabilities</a:t>
            </a:r>
          </a:p>
          <a:p>
            <a:pPr>
              <a:spcBef>
                <a:spcPts val="200"/>
              </a:spcBef>
              <a:defRPr sz="1100">
                <a:solidFill>
                  <a:srgbClr val="475569"/>
                </a:solidFill>
              </a:defRPr>
            </a:pPr>
            <a:r>
              <a:t>Current insurance claim systems generally focus on:</a:t>
            </a:r>
          </a:p>
        </p:txBody>
      </p:sp>
      <p:sp>
        <p:nvSpPr>
          <p:cNvPr id="6" name="TextBox 5"/>
          <p:cNvSpPr txBox="1"/>
          <p:nvPr/>
        </p:nvSpPr>
        <p:spPr>
          <a:xfrm>
            <a:off x="731520" y="2103120"/>
            <a:ext cx="4937760" cy="3931920"/>
          </a:xfrm>
          <a:prstGeom prst="rect">
            <a:avLst/>
          </a:prstGeom>
          <a:noFill/>
        </p:spPr>
        <p:txBody>
          <a:bodyPr wrap="square">
            <a:spAutoFit/>
          </a:bodyPr>
          <a:lstStyle/>
          <a:p>
            <a:pPr>
              <a:defRPr sz="1300">
                <a:solidFill>
                  <a:srgbClr val="173B32"/>
                </a:solidFill>
              </a:defRPr>
            </a:pPr>
            <a:r>
              <a:t>✔ Store customer and claim information.</a:t>
            </a:r>
          </a:p>
          <a:p>
            <a:pPr>
              <a:spcBef>
                <a:spcPts val="1200"/>
              </a:spcBef>
              <a:defRPr sz="1300">
                <a:solidFill>
                  <a:srgbClr val="173B32"/>
                </a:solidFill>
              </a:defRPr>
            </a:pPr>
            <a:r>
              <a:t>✔ Perform basic rule-based validation.</a:t>
            </a:r>
          </a:p>
          <a:p>
            <a:pPr>
              <a:spcBef>
                <a:spcPts val="1200"/>
              </a:spcBef>
              <a:defRPr sz="1300">
                <a:solidFill>
                  <a:srgbClr val="173B32"/>
                </a:solidFill>
              </a:defRPr>
            </a:pPr>
            <a:r>
              <a:t>✔ Use a single fraud prediction model to calculate a fraud score.</a:t>
            </a:r>
          </a:p>
          <a:p>
            <a:pPr>
              <a:spcBef>
                <a:spcPts val="1200"/>
              </a:spcBef>
              <a:defRPr sz="1300">
                <a:solidFill>
                  <a:srgbClr val="173B32"/>
                </a:solidFill>
              </a:defRPr>
            </a:pPr>
            <a:r>
              <a:t>✔ Allow investigators to manually review suspicious claims.</a:t>
            </a:r>
          </a:p>
          <a:p>
            <a:pPr>
              <a:spcBef>
                <a:spcPts val="1200"/>
              </a:spcBef>
              <a:defRPr sz="1300">
                <a:solidFill>
                  <a:srgbClr val="173B32"/>
                </a:solidFill>
              </a:defRPr>
            </a:pPr>
            <a:r>
              <a:t>✔ Generate static claim summary reports.</a:t>
            </a:r>
          </a:p>
        </p:txBody>
      </p:sp>
      <p:sp>
        <p:nvSpPr>
          <p:cNvPr id="7" name="Rounded Rectangle 6"/>
          <p:cNvSpPr/>
          <p:nvPr/>
        </p:nvSpPr>
        <p:spPr>
          <a:xfrm>
            <a:off x="6217920" y="1371600"/>
            <a:ext cx="5303520" cy="4846320"/>
          </a:xfrm>
          <a:prstGeom prst="roundRect">
            <a:avLst/>
          </a:prstGeom>
          <a:solidFill>
            <a:srgbClr val="FFFFFF"/>
          </a:solidFill>
          <a:ln w="25400">
            <a:solidFill>
              <a:srgbClr val="FF7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36192"/>
            <a:ext cx="4937760" cy="457200"/>
          </a:xfrm>
          <a:prstGeom prst="rect">
            <a:avLst/>
          </a:prstGeom>
          <a:noFill/>
        </p:spPr>
        <p:txBody>
          <a:bodyPr wrap="square">
            <a:spAutoFit/>
          </a:bodyPr>
          <a:lstStyle/>
          <a:p>
            <a:pPr>
              <a:defRPr sz="1600" b="1">
                <a:solidFill>
                  <a:srgbClr val="173B32"/>
                </a:solidFill>
              </a:defRPr>
            </a:pPr>
            <a:r>
              <a:t>⚠️ Critical Limitations</a:t>
            </a:r>
          </a:p>
          <a:p>
            <a:pPr>
              <a:spcBef>
                <a:spcPts val="200"/>
              </a:spcBef>
              <a:defRPr sz="1100">
                <a:solidFill>
                  <a:srgbClr val="475569"/>
                </a:solidFill>
              </a:defRPr>
            </a:pPr>
            <a:r>
              <a:t>What existing systems fail to provide:</a:t>
            </a:r>
          </a:p>
        </p:txBody>
      </p:sp>
      <p:sp>
        <p:nvSpPr>
          <p:cNvPr id="9" name="TextBox 8"/>
          <p:cNvSpPr txBox="1"/>
          <p:nvPr/>
        </p:nvSpPr>
        <p:spPr>
          <a:xfrm>
            <a:off x="6400800" y="2103120"/>
            <a:ext cx="4937760" cy="3931920"/>
          </a:xfrm>
          <a:prstGeom prst="rect">
            <a:avLst/>
          </a:prstGeom>
          <a:noFill/>
        </p:spPr>
        <p:txBody>
          <a:bodyPr wrap="square">
            <a:spAutoFit/>
          </a:bodyPr>
          <a:lstStyle/>
          <a:p>
            <a:pPr>
              <a:defRPr sz="1300" b="1">
                <a:solidFill>
                  <a:srgbClr val="C82828"/>
                </a:solidFill>
              </a:defRPr>
            </a:pPr>
            <a:r>
              <a:t>❌ No Graph-Based Fraud Ring Detection.</a:t>
            </a:r>
          </a:p>
          <a:p>
            <a:pPr>
              <a:spcBef>
                <a:spcPts val="1000"/>
              </a:spcBef>
              <a:defRPr sz="1300" b="1">
                <a:solidFill>
                  <a:srgbClr val="C82828"/>
                </a:solidFill>
              </a:defRPr>
            </a:pPr>
            <a:r>
              <a:t>❌ No AI-Powered Investigator Assistant (Copilot).</a:t>
            </a:r>
          </a:p>
          <a:p>
            <a:pPr>
              <a:spcBef>
                <a:spcPts val="1000"/>
              </a:spcBef>
              <a:defRPr sz="1300" b="1">
                <a:solidFill>
                  <a:srgbClr val="C82828"/>
                </a:solidFill>
              </a:defRPr>
            </a:pPr>
            <a:r>
              <a:t>❌ No Explainable AI (XAI) for transparent decisions.</a:t>
            </a:r>
          </a:p>
          <a:p>
            <a:pPr>
              <a:spcBef>
                <a:spcPts val="1000"/>
              </a:spcBef>
              <a:defRPr sz="1300" b="0">
                <a:solidFill>
                  <a:srgbClr val="C82828"/>
                </a:solidFill>
              </a:defRPr>
            </a:pPr>
            <a:r>
              <a:t>❌ No Investigation Prioritization capabilities.</a:t>
            </a:r>
          </a:p>
          <a:p>
            <a:pPr>
              <a:spcBef>
                <a:spcPts val="1000"/>
              </a:spcBef>
              <a:defRPr sz="1300" b="0">
                <a:solidFill>
                  <a:srgbClr val="C82828"/>
                </a:solidFill>
              </a:defRPr>
            </a:pPr>
            <a:r>
              <a:t>❌ No Fairness &amp; Bias Monitoring.</a:t>
            </a:r>
          </a:p>
          <a:p>
            <a:pPr>
              <a:spcBef>
                <a:spcPts val="1000"/>
              </a:spcBef>
              <a:defRPr sz="1300" b="0">
                <a:solidFill>
                  <a:srgbClr val="C82828"/>
                </a:solidFill>
              </a:defRPr>
            </a:pPr>
            <a:r>
              <a:t>❌ No overarching Decision Intelligence Support.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731520"/>
          </a:xfrm>
          <a:prstGeom prst="rect">
            <a:avLst/>
          </a:prstGeom>
          <a:noFill/>
        </p:spPr>
        <p:txBody>
          <a:bodyPr wrap="square">
            <a:spAutoFit/>
          </a:bodyPr>
          <a:lstStyle/>
          <a:p>
            <a:pPr>
              <a:defRPr sz="2800" b="1">
                <a:solidFill>
                  <a:srgbClr val="173B32"/>
                </a:solidFill>
              </a:defRPr>
            </a:pPr>
            <a:r>
              <a:t>WHAT EXACTLY ARE WE DOING THAT IS NEW?</a:t>
            </a:r>
          </a:p>
        </p:txBody>
      </p:sp>
      <p:sp>
        <p:nvSpPr>
          <p:cNvPr id="4" name="Rounded Rectangle 3"/>
          <p:cNvSpPr/>
          <p:nvPr/>
        </p:nvSpPr>
        <p:spPr>
          <a:xfrm>
            <a:off x="548640" y="1188720"/>
            <a:ext cx="11094415" cy="10058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98448"/>
            <a:ext cx="10728655" cy="777240"/>
          </a:xfrm>
          <a:prstGeom prst="rect">
            <a:avLst/>
          </a:prstGeom>
          <a:noFill/>
        </p:spPr>
        <p:txBody>
          <a:bodyPr wrap="square">
            <a:spAutoFit/>
          </a:bodyPr>
          <a:lstStyle/>
          <a:p>
            <a:pPr algn="ctr">
              <a:defRPr sz="2000" b="1">
                <a:solidFill>
                  <a:srgbClr val="FFFFFF"/>
                </a:solidFill>
              </a:defRPr>
            </a:pPr>
            <a:r>
              <a:t>Our project is not just another Insurance Fraud Detection System.</a:t>
            </a:r>
          </a:p>
          <a:p>
            <a:pPr algn="ctr">
              <a:spcBef>
                <a:spcPts val="400"/>
              </a:spcBef>
              <a:defRPr sz="1300">
                <a:solidFill>
                  <a:srgbClr val="A3E635"/>
                </a:solidFill>
              </a:defRPr>
            </a:pPr>
            <a:r>
              <a:t>We are developing an AI-Powered Insurance Claims Decision Intelligence Platform that assists investigators throughout the complete investigation process using multiple AI technologies.</a:t>
            </a:r>
          </a:p>
        </p:txBody>
      </p:sp>
      <p:sp>
        <p:nvSpPr>
          <p:cNvPr id="6" name="Rounded Rectangle 5"/>
          <p:cNvSpPr/>
          <p:nvPr/>
        </p:nvSpPr>
        <p:spPr>
          <a:xfrm>
            <a:off x="548640" y="2377440"/>
            <a:ext cx="3474720" cy="3931920"/>
          </a:xfrm>
          <a:prstGeom prst="roundRect">
            <a:avLst/>
          </a:prstGeom>
          <a:solidFill>
            <a:srgbClr val="FFFFFF"/>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42032"/>
            <a:ext cx="3108960" cy="457200"/>
          </a:xfrm>
          <a:prstGeom prst="rect">
            <a:avLst/>
          </a:prstGeom>
          <a:noFill/>
        </p:spPr>
        <p:txBody>
          <a:bodyPr wrap="square">
            <a:spAutoFit/>
          </a:bodyPr>
          <a:lstStyle/>
          <a:p>
            <a:pPr>
              <a:defRPr sz="1600" b="1">
                <a:solidFill>
                  <a:srgbClr val="173B32"/>
                </a:solidFill>
              </a:defRPr>
            </a:pPr>
            <a:r>
              <a:t>① AI Investigator Copilot</a:t>
            </a:r>
          </a:p>
        </p:txBody>
      </p:sp>
      <p:sp>
        <p:nvSpPr>
          <p:cNvPr id="8" name="TextBox 7"/>
          <p:cNvSpPr txBox="1"/>
          <p:nvPr/>
        </p:nvSpPr>
        <p:spPr>
          <a:xfrm>
            <a:off x="731520" y="3017520"/>
            <a:ext cx="3108960" cy="3108960"/>
          </a:xfrm>
          <a:prstGeom prst="rect">
            <a:avLst/>
          </a:prstGeom>
          <a:noFill/>
        </p:spPr>
        <p:txBody>
          <a:bodyPr wrap="square">
            <a:spAutoFit/>
          </a:bodyPr>
          <a:lstStyle/>
          <a:p>
            <a:pPr>
              <a:defRPr sz="1100">
                <a:solidFill>
                  <a:srgbClr val="101412"/>
                </a:solidFill>
              </a:defRPr>
            </a:pPr>
            <a:r>
              <a:t>An AI assistant allowing investigators to ask questions in natural language:</a:t>
            </a:r>
          </a:p>
          <a:p>
            <a:pPr>
              <a:spcBef>
                <a:spcPts val="400"/>
              </a:spcBef>
              <a:defRPr sz="1100">
                <a:solidFill>
                  <a:srgbClr val="101412"/>
                </a:solidFill>
              </a:defRPr>
            </a:pPr>
            <a:r>
              <a:t>  - 'Why was this claim flagged?'</a:t>
            </a:r>
          </a:p>
          <a:p>
            <a:pPr>
              <a:spcBef>
                <a:spcPts val="400"/>
              </a:spcBef>
              <a:defRPr sz="1100">
                <a:solidFill>
                  <a:srgbClr val="101412"/>
                </a:solidFill>
              </a:defRPr>
            </a:pPr>
            <a:r>
              <a:t>  - 'Show similar fraud cases.'</a:t>
            </a:r>
          </a:p>
          <a:p>
            <a:pPr>
              <a:spcBef>
                <a:spcPts val="400"/>
              </a:spcBef>
              <a:defRPr sz="1100">
                <a:solidFill>
                  <a:srgbClr val="101412"/>
                </a:solidFill>
              </a:defRPr>
            </a:pPr>
            <a:r>
              <a:t>  - 'Summarize this claim.'</a:t>
            </a:r>
          </a:p>
          <a:p>
            <a:pPr>
              <a:spcBef>
                <a:spcPts val="400"/>
              </a:spcBef>
              <a:defRPr sz="1100">
                <a:solidFill>
                  <a:srgbClr val="101412"/>
                </a:solidFill>
              </a:defRPr>
            </a:pPr>
            <a:r>
              <a:t>Provides instant answers using claim data, graphs, and Explainable AI.</a:t>
            </a:r>
          </a:p>
        </p:txBody>
      </p:sp>
      <p:sp>
        <p:nvSpPr>
          <p:cNvPr id="9" name="Rounded Rectangle 8"/>
          <p:cNvSpPr/>
          <p:nvPr/>
        </p:nvSpPr>
        <p:spPr>
          <a:xfrm>
            <a:off x="4297679" y="2377440"/>
            <a:ext cx="3474720" cy="3931920"/>
          </a:xfrm>
          <a:prstGeom prst="roundRect">
            <a:avLst/>
          </a:prstGeom>
          <a:solidFill>
            <a:srgbClr val="FFFFFF"/>
          </a:solidFill>
          <a:ln w="25400">
            <a:solidFill>
              <a:srgbClr val="FF7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2542032"/>
            <a:ext cx="3108960" cy="457200"/>
          </a:xfrm>
          <a:prstGeom prst="rect">
            <a:avLst/>
          </a:prstGeom>
          <a:noFill/>
        </p:spPr>
        <p:txBody>
          <a:bodyPr wrap="square">
            <a:spAutoFit/>
          </a:bodyPr>
          <a:lstStyle/>
          <a:p>
            <a:pPr>
              <a:defRPr sz="1600" b="1">
                <a:solidFill>
                  <a:srgbClr val="173B32"/>
                </a:solidFill>
              </a:defRPr>
            </a:pPr>
            <a:r>
              <a:t>② Multi-Modal AI Analysis</a:t>
            </a:r>
          </a:p>
        </p:txBody>
      </p:sp>
      <p:sp>
        <p:nvSpPr>
          <p:cNvPr id="11" name="TextBox 10"/>
          <p:cNvSpPr txBox="1"/>
          <p:nvPr/>
        </p:nvSpPr>
        <p:spPr>
          <a:xfrm>
            <a:off x="4480559" y="3017520"/>
            <a:ext cx="3108960" cy="3108960"/>
          </a:xfrm>
          <a:prstGeom prst="rect">
            <a:avLst/>
          </a:prstGeom>
          <a:noFill/>
        </p:spPr>
        <p:txBody>
          <a:bodyPr wrap="square">
            <a:spAutoFit/>
          </a:bodyPr>
          <a:lstStyle/>
          <a:p>
            <a:pPr>
              <a:defRPr sz="1100">
                <a:solidFill>
                  <a:srgbClr val="101412"/>
                </a:solidFill>
              </a:defRPr>
            </a:pPr>
            <a:r>
              <a:t>Instead of analyzing only one type of data, our system combinedly analyzes:</a:t>
            </a:r>
          </a:p>
          <a:p>
            <a:pPr>
              <a:spcBef>
                <a:spcPts val="400"/>
              </a:spcBef>
              <a:defRPr sz="1100">
                <a:solidFill>
                  <a:srgbClr val="101412"/>
                </a:solidFill>
              </a:defRPr>
            </a:pPr>
            <a:r>
              <a:t>  📄 Claim Details (Structured Data)</a:t>
            </a:r>
          </a:p>
          <a:p>
            <a:pPr>
              <a:spcBef>
                <a:spcPts val="400"/>
              </a:spcBef>
              <a:defRPr sz="1100">
                <a:solidFill>
                  <a:srgbClr val="101412"/>
                </a:solidFill>
              </a:defRPr>
            </a:pPr>
            <a:r>
              <a:t>  🖼 Damage Images (Computer Vision)</a:t>
            </a:r>
          </a:p>
          <a:p>
            <a:pPr>
              <a:spcBef>
                <a:spcPts val="400"/>
              </a:spcBef>
              <a:defRPr sz="1100">
                <a:solidFill>
                  <a:srgbClr val="101412"/>
                </a:solidFill>
              </a:defRPr>
            </a:pPr>
            <a:r>
              <a:t>  📝 Claim Description (NLP Sentiment)</a:t>
            </a:r>
          </a:p>
          <a:p>
            <a:pPr>
              <a:spcBef>
                <a:spcPts val="400"/>
              </a:spcBef>
              <a:defRPr sz="1100">
                <a:solidFill>
                  <a:srgbClr val="101412"/>
                </a:solidFill>
              </a:defRPr>
            </a:pPr>
            <a:r>
              <a:t>Improves accuracy by analyzing multiple evidence sources together.</a:t>
            </a:r>
          </a:p>
        </p:txBody>
      </p:sp>
      <p:sp>
        <p:nvSpPr>
          <p:cNvPr id="12" name="Rounded Rectangle 11"/>
          <p:cNvSpPr/>
          <p:nvPr/>
        </p:nvSpPr>
        <p:spPr>
          <a:xfrm>
            <a:off x="8046719" y="2377440"/>
            <a:ext cx="3474720" cy="3931920"/>
          </a:xfrm>
          <a:prstGeom prst="roundRect">
            <a:avLst/>
          </a:prstGeom>
          <a:solidFill>
            <a:srgbClr val="FFFFFF"/>
          </a:solidFill>
          <a:ln w="25400">
            <a:solidFill>
              <a:srgbClr val="A3E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9" y="2542032"/>
            <a:ext cx="3108960" cy="457200"/>
          </a:xfrm>
          <a:prstGeom prst="rect">
            <a:avLst/>
          </a:prstGeom>
          <a:noFill/>
        </p:spPr>
        <p:txBody>
          <a:bodyPr wrap="square">
            <a:spAutoFit/>
          </a:bodyPr>
          <a:lstStyle/>
          <a:p>
            <a:pPr>
              <a:defRPr sz="1600" b="1">
                <a:solidFill>
                  <a:srgbClr val="173B32"/>
                </a:solidFill>
              </a:defRPr>
            </a:pPr>
            <a:r>
              <a:t>③ Graph-Based Detection</a:t>
            </a:r>
          </a:p>
        </p:txBody>
      </p:sp>
      <p:sp>
        <p:nvSpPr>
          <p:cNvPr id="14" name="TextBox 13"/>
          <p:cNvSpPr txBox="1"/>
          <p:nvPr/>
        </p:nvSpPr>
        <p:spPr>
          <a:xfrm>
            <a:off x="8229599" y="3017520"/>
            <a:ext cx="3108960" cy="3108960"/>
          </a:xfrm>
          <a:prstGeom prst="rect">
            <a:avLst/>
          </a:prstGeom>
          <a:noFill/>
        </p:spPr>
        <p:txBody>
          <a:bodyPr wrap="square">
            <a:spAutoFit/>
          </a:bodyPr>
          <a:lstStyle/>
          <a:p>
            <a:pPr>
              <a:defRPr sz="1100">
                <a:solidFill>
                  <a:srgbClr val="101412"/>
                </a:solidFill>
              </a:defRPr>
            </a:pPr>
            <a:r>
              <a:t>The platform builds deep relationships between multiple entities:</a:t>
            </a:r>
          </a:p>
          <a:p>
            <a:pPr>
              <a:spcBef>
                <a:spcPts val="400"/>
              </a:spcBef>
              <a:defRPr sz="1100">
                <a:solidFill>
                  <a:srgbClr val="101412"/>
                </a:solidFill>
              </a:defRPr>
            </a:pPr>
            <a:r>
              <a:t>  Customers ↔ Phones ↔ Addresses</a:t>
            </a:r>
          </a:p>
          <a:p>
            <a:pPr>
              <a:spcBef>
                <a:spcPts val="400"/>
              </a:spcBef>
              <a:defRPr sz="1100">
                <a:solidFill>
                  <a:srgbClr val="101412"/>
                </a:solidFill>
              </a:defRPr>
            </a:pPr>
            <a:r>
              <a:t>  Garages ↔ Accounts ↔ Vehicles</a:t>
            </a:r>
          </a:p>
          <a:p>
            <a:pPr>
              <a:spcBef>
                <a:spcPts val="400"/>
              </a:spcBef>
              <a:defRPr sz="1100">
                <a:solidFill>
                  <a:srgbClr val="101412"/>
                </a:solidFill>
              </a:defRPr>
            </a:pPr>
            <a:r>
              <a:t>Helps identify organized fraud groups instead of only individual claims.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731520"/>
          </a:xfrm>
          <a:prstGeom prst="rect">
            <a:avLst/>
          </a:prstGeom>
          <a:noFill/>
        </p:spPr>
        <p:txBody>
          <a:bodyPr wrap="square">
            <a:spAutoFit/>
          </a:bodyPr>
          <a:lstStyle/>
          <a:p>
            <a:pPr>
              <a:defRPr sz="2800" b="1">
                <a:solidFill>
                  <a:srgbClr val="173B32"/>
                </a:solidFill>
              </a:defRPr>
            </a:pPr>
            <a:r>
              <a:t>OUR INNOVATIONS (CONTINUED)</a:t>
            </a:r>
          </a:p>
        </p:txBody>
      </p:sp>
      <p:sp>
        <p:nvSpPr>
          <p:cNvPr id="4" name="Rounded Rectangle 3"/>
          <p:cNvSpPr/>
          <p:nvPr/>
        </p:nvSpPr>
        <p:spPr>
          <a:xfrm>
            <a:off x="548640" y="1371600"/>
            <a:ext cx="5303520" cy="2286000"/>
          </a:xfrm>
          <a:prstGeom prst="roundRect">
            <a:avLst/>
          </a:prstGeom>
          <a:solidFill>
            <a:srgbClr val="FFFFFF"/>
          </a:solidFill>
          <a:ln w="25400">
            <a:solidFill>
              <a:srgbClr val="FF7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36192"/>
            <a:ext cx="4937760" cy="457200"/>
          </a:xfrm>
          <a:prstGeom prst="rect">
            <a:avLst/>
          </a:prstGeom>
          <a:noFill/>
        </p:spPr>
        <p:txBody>
          <a:bodyPr wrap="square">
            <a:spAutoFit/>
          </a:bodyPr>
          <a:lstStyle/>
          <a:p>
            <a:pPr>
              <a:defRPr sz="1600" b="1">
                <a:solidFill>
                  <a:srgbClr val="173B32"/>
                </a:solidFill>
              </a:defRPr>
            </a:pPr>
            <a:r>
              <a:t>④ Explainable AI (XAI)</a:t>
            </a:r>
          </a:p>
        </p:txBody>
      </p:sp>
      <p:sp>
        <p:nvSpPr>
          <p:cNvPr id="6" name="TextBox 5"/>
          <p:cNvSpPr txBox="1"/>
          <p:nvPr/>
        </p:nvSpPr>
        <p:spPr>
          <a:xfrm>
            <a:off x="731520" y="1920240"/>
            <a:ext cx="4937760" cy="1645920"/>
          </a:xfrm>
          <a:prstGeom prst="rect">
            <a:avLst/>
          </a:prstGeom>
          <a:noFill/>
        </p:spPr>
        <p:txBody>
          <a:bodyPr wrap="square">
            <a:spAutoFit/>
          </a:bodyPr>
          <a:lstStyle/>
          <a:p>
            <a:pPr>
              <a:defRPr sz="1100">
                <a:solidFill>
                  <a:srgbClr val="101412"/>
                </a:solidFill>
              </a:defRPr>
            </a:pPr>
            <a:r>
              <a:t>Instead of showing only a fraud score, our platform explains:</a:t>
            </a:r>
          </a:p>
          <a:p>
            <a:pPr>
              <a:spcBef>
                <a:spcPts val="300"/>
              </a:spcBef>
              <a:defRPr sz="1100">
                <a:solidFill>
                  <a:srgbClr val="101412"/>
                </a:solidFill>
              </a:defRPr>
            </a:pPr>
            <a:r>
              <a:t>  • Why the claim was flagged.</a:t>
            </a:r>
          </a:p>
          <a:p>
            <a:pPr>
              <a:spcBef>
                <a:spcPts val="300"/>
              </a:spcBef>
              <a:defRPr sz="1100">
                <a:solidFill>
                  <a:srgbClr val="101412"/>
                </a:solidFill>
              </a:defRPr>
            </a:pPr>
            <a:r>
              <a:t>  • Which specific factors influenced the prediction (SHAP factors).</a:t>
            </a:r>
          </a:p>
          <a:p>
            <a:pPr>
              <a:spcBef>
                <a:spcPts val="300"/>
              </a:spcBef>
              <a:defRPr sz="1100">
                <a:solidFill>
                  <a:srgbClr val="101412"/>
                </a:solidFill>
              </a:defRPr>
            </a:pPr>
            <a:r>
              <a:t>  • What evidence supports the investigation.</a:t>
            </a:r>
          </a:p>
          <a:p>
            <a:pPr>
              <a:spcBef>
                <a:spcPts val="300"/>
              </a:spcBef>
              <a:defRPr sz="1100">
                <a:solidFill>
                  <a:srgbClr val="101412"/>
                </a:solidFill>
              </a:defRPr>
            </a:pPr>
            <a:r>
              <a:t>Improves transparency and investigator trust.</a:t>
            </a:r>
          </a:p>
        </p:txBody>
      </p:sp>
      <p:sp>
        <p:nvSpPr>
          <p:cNvPr id="7" name="Rounded Rectangle 6"/>
          <p:cNvSpPr/>
          <p:nvPr/>
        </p:nvSpPr>
        <p:spPr>
          <a:xfrm>
            <a:off x="6217920" y="1371600"/>
            <a:ext cx="5303520" cy="2286000"/>
          </a:xfrm>
          <a:prstGeom prst="roundRect">
            <a:avLst/>
          </a:prstGeom>
          <a:solidFill>
            <a:srgbClr val="FFFFFF"/>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36192"/>
            <a:ext cx="4937760" cy="457200"/>
          </a:xfrm>
          <a:prstGeom prst="rect">
            <a:avLst/>
          </a:prstGeom>
          <a:noFill/>
        </p:spPr>
        <p:txBody>
          <a:bodyPr wrap="square">
            <a:spAutoFit/>
          </a:bodyPr>
          <a:lstStyle/>
          <a:p>
            <a:pPr>
              <a:defRPr sz="1600" b="1">
                <a:solidFill>
                  <a:srgbClr val="173B32"/>
                </a:solidFill>
              </a:defRPr>
            </a:pPr>
            <a:r>
              <a:t>⑤ ROI-Based Prioritization</a:t>
            </a:r>
          </a:p>
        </p:txBody>
      </p:sp>
      <p:sp>
        <p:nvSpPr>
          <p:cNvPr id="9" name="TextBox 8"/>
          <p:cNvSpPr txBox="1"/>
          <p:nvPr/>
        </p:nvSpPr>
        <p:spPr>
          <a:xfrm>
            <a:off x="6400800" y="1920240"/>
            <a:ext cx="4937760" cy="1645920"/>
          </a:xfrm>
          <a:prstGeom prst="rect">
            <a:avLst/>
          </a:prstGeom>
          <a:noFill/>
        </p:spPr>
        <p:txBody>
          <a:bodyPr wrap="square">
            <a:spAutoFit/>
          </a:bodyPr>
          <a:lstStyle/>
          <a:p>
            <a:pPr>
              <a:defRPr sz="1100">
                <a:solidFill>
                  <a:srgbClr val="101412"/>
                </a:solidFill>
              </a:defRPr>
            </a:pPr>
            <a:r>
              <a:t>Rather than asking investigators to review every suspicious claim, our system automatically prioritizes cases based on:</a:t>
            </a:r>
          </a:p>
          <a:p>
            <a:pPr>
              <a:spcBef>
                <a:spcPts val="300"/>
              </a:spcBef>
              <a:defRPr sz="1100">
                <a:solidFill>
                  <a:srgbClr val="101412"/>
                </a:solidFill>
              </a:defRPr>
            </a:pPr>
            <a:r>
              <a:t>  [Fraud Probability] ✖ [Claim Amount] ✖ [Business Impact]</a:t>
            </a:r>
          </a:p>
          <a:p>
            <a:pPr>
              <a:spcBef>
                <a:spcPts val="300"/>
              </a:spcBef>
              <a:defRPr sz="1100">
                <a:solidFill>
                  <a:srgbClr val="101412"/>
                </a:solidFill>
              </a:defRPr>
            </a:pPr>
            <a:r>
              <a:t>Allows investigators to focus on the highest-value fraud cases first.</a:t>
            </a:r>
          </a:p>
        </p:txBody>
      </p:sp>
      <p:sp>
        <p:nvSpPr>
          <p:cNvPr id="10" name="Rounded Rectangle 9"/>
          <p:cNvSpPr/>
          <p:nvPr/>
        </p:nvSpPr>
        <p:spPr>
          <a:xfrm>
            <a:off x="548640" y="3931920"/>
            <a:ext cx="5303520" cy="2286000"/>
          </a:xfrm>
          <a:prstGeom prst="roundRect">
            <a:avLst/>
          </a:prstGeom>
          <a:solidFill>
            <a:srgbClr val="FFFFFF"/>
          </a:solidFill>
          <a:ln w="25400">
            <a:solidFill>
              <a:srgbClr val="A3E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096512"/>
            <a:ext cx="4937760" cy="457200"/>
          </a:xfrm>
          <a:prstGeom prst="rect">
            <a:avLst/>
          </a:prstGeom>
          <a:noFill/>
        </p:spPr>
        <p:txBody>
          <a:bodyPr wrap="square">
            <a:spAutoFit/>
          </a:bodyPr>
          <a:lstStyle/>
          <a:p>
            <a:pPr>
              <a:defRPr sz="1600" b="1">
                <a:solidFill>
                  <a:srgbClr val="173B32"/>
                </a:solidFill>
              </a:defRPr>
            </a:pPr>
            <a:r>
              <a:t>⑥ Fairness &amp; Bias Monitoring</a:t>
            </a:r>
          </a:p>
        </p:txBody>
      </p:sp>
      <p:sp>
        <p:nvSpPr>
          <p:cNvPr id="12" name="TextBox 11"/>
          <p:cNvSpPr txBox="1"/>
          <p:nvPr/>
        </p:nvSpPr>
        <p:spPr>
          <a:xfrm>
            <a:off x="731520" y="4480560"/>
            <a:ext cx="4937760" cy="1645920"/>
          </a:xfrm>
          <a:prstGeom prst="rect">
            <a:avLst/>
          </a:prstGeom>
          <a:noFill/>
        </p:spPr>
        <p:txBody>
          <a:bodyPr wrap="square">
            <a:spAutoFit/>
          </a:bodyPr>
          <a:lstStyle/>
          <a:p>
            <a:pPr>
              <a:defRPr sz="1100">
                <a:solidFill>
                  <a:srgbClr val="101412"/>
                </a:solidFill>
              </a:defRPr>
            </a:pPr>
            <a:r>
              <a:t>Our platform continuously evaluates whether the AI model treats different customer demographic groups fairly.</a:t>
            </a:r>
          </a:p>
          <a:p>
            <a:pPr>
              <a:spcBef>
                <a:spcPts val="300"/>
              </a:spcBef>
              <a:defRPr sz="1100">
                <a:solidFill>
                  <a:srgbClr val="101412"/>
                </a:solidFill>
              </a:defRPr>
            </a:pPr>
            <a:r>
              <a:t>Displays fairness metrics and demographic impact reports through the Admin Dashboard.</a:t>
            </a:r>
          </a:p>
        </p:txBody>
      </p:sp>
      <p:sp>
        <p:nvSpPr>
          <p:cNvPr id="13" name="Rounded Rectangle 12"/>
          <p:cNvSpPr/>
          <p:nvPr/>
        </p:nvSpPr>
        <p:spPr>
          <a:xfrm>
            <a:off x="6217920" y="3931920"/>
            <a:ext cx="5303520" cy="2286000"/>
          </a:xfrm>
          <a:prstGeom prst="roundRect">
            <a:avLst/>
          </a:prstGeom>
          <a:solidFill>
            <a:srgbClr val="FFFFFF"/>
          </a:solidFill>
          <a:ln w="25400">
            <a:solidFill>
              <a:srgbClr val="FF7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096512"/>
            <a:ext cx="4937760" cy="457200"/>
          </a:xfrm>
          <a:prstGeom prst="rect">
            <a:avLst/>
          </a:prstGeom>
          <a:noFill/>
        </p:spPr>
        <p:txBody>
          <a:bodyPr wrap="square">
            <a:spAutoFit/>
          </a:bodyPr>
          <a:lstStyle/>
          <a:p>
            <a:pPr>
              <a:defRPr sz="1600" b="1">
                <a:solidFill>
                  <a:srgbClr val="173B32"/>
                </a:solidFill>
              </a:defRPr>
            </a:pPr>
            <a:r>
              <a:t>⑦ Digital Forensics &amp; Telemetry</a:t>
            </a:r>
          </a:p>
        </p:txBody>
      </p:sp>
      <p:sp>
        <p:nvSpPr>
          <p:cNvPr id="15" name="TextBox 14"/>
          <p:cNvSpPr txBox="1"/>
          <p:nvPr/>
        </p:nvSpPr>
        <p:spPr>
          <a:xfrm>
            <a:off x="6400800" y="4480560"/>
            <a:ext cx="4937760" cy="1645920"/>
          </a:xfrm>
          <a:prstGeom prst="rect">
            <a:avLst/>
          </a:prstGeom>
          <a:noFill/>
        </p:spPr>
        <p:txBody>
          <a:bodyPr wrap="square">
            <a:spAutoFit/>
          </a:bodyPr>
          <a:lstStyle/>
          <a:p>
            <a:pPr>
              <a:defRPr sz="1100">
                <a:solidFill>
                  <a:srgbClr val="101412"/>
                </a:solidFill>
              </a:defRPr>
            </a:pPr>
            <a:r>
              <a:t>The system identifies suspicious photo assets by detecting:</a:t>
            </a:r>
          </a:p>
          <a:p>
            <a:pPr>
              <a:spcBef>
                <a:spcPts val="300"/>
              </a:spcBef>
              <a:defRPr sz="1100">
                <a:solidFill>
                  <a:srgbClr val="101412"/>
                </a:solidFill>
              </a:defRPr>
            </a:pPr>
            <a:r>
              <a:t>  • Missing native camera EXIF telemetry tags.</a:t>
            </a:r>
          </a:p>
          <a:p>
            <a:pPr>
              <a:spcBef>
                <a:spcPts val="300"/>
              </a:spcBef>
              <a:defRPr sz="1100">
                <a:solidFill>
                  <a:srgbClr val="101412"/>
                </a:solidFill>
              </a:defRPr>
            </a:pPr>
            <a:r>
              <a:t>  • Web-sourced / downloaded stock photo compression artifacts.</a:t>
            </a:r>
          </a:p>
          <a:p>
            <a:pPr>
              <a:spcBef>
                <a:spcPts val="300"/>
              </a:spcBef>
              <a:defRPr sz="1100">
                <a:solidFill>
                  <a:srgbClr val="101412"/>
                </a:solidFill>
              </a:defRPr>
            </a:pPr>
            <a:r>
              <a:t>Detects image-based fraud before claims are approved.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731520"/>
          </a:xfrm>
          <a:prstGeom prst="rect">
            <a:avLst/>
          </a:prstGeom>
          <a:noFill/>
        </p:spPr>
        <p:txBody>
          <a:bodyPr wrap="square">
            <a:spAutoFit/>
          </a:bodyPr>
          <a:lstStyle/>
          <a:p>
            <a:pPr>
              <a:defRPr sz="2800" b="1">
                <a:solidFill>
                  <a:srgbClr val="173B32"/>
                </a:solidFill>
              </a:defRPr>
            </a:pPr>
            <a:r>
              <a:t>COMPETITOR ANALYSIS &amp; INDUSTRY GAPS</a:t>
            </a:r>
          </a:p>
        </p:txBody>
      </p:sp>
      <p:sp>
        <p:nvSpPr>
          <p:cNvPr id="4" name="Rounded Rectangle 3"/>
          <p:cNvSpPr/>
          <p:nvPr/>
        </p:nvSpPr>
        <p:spPr>
          <a:xfrm>
            <a:off x="548640" y="1371600"/>
            <a:ext cx="3474720" cy="4846320"/>
          </a:xfrm>
          <a:prstGeom prst="roundRect">
            <a:avLst/>
          </a:prstGeom>
          <a:solidFill>
            <a:srgbClr val="FFFFFF"/>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36192"/>
            <a:ext cx="3108960" cy="457200"/>
          </a:xfrm>
          <a:prstGeom prst="rect">
            <a:avLst/>
          </a:prstGeom>
          <a:noFill/>
        </p:spPr>
        <p:txBody>
          <a:bodyPr wrap="square">
            <a:spAutoFit/>
          </a:bodyPr>
          <a:lstStyle/>
          <a:p>
            <a:pPr>
              <a:defRPr sz="1600" b="1">
                <a:solidFill>
                  <a:srgbClr val="173B32"/>
                </a:solidFill>
              </a:defRPr>
            </a:pPr>
            <a:r>
              <a:t>Existing Industry Solutions</a:t>
            </a:r>
          </a:p>
        </p:txBody>
      </p:sp>
      <p:sp>
        <p:nvSpPr>
          <p:cNvPr id="6" name="TextBox 5"/>
          <p:cNvSpPr txBox="1"/>
          <p:nvPr/>
        </p:nvSpPr>
        <p:spPr>
          <a:xfrm>
            <a:off x="731520" y="2011680"/>
            <a:ext cx="3108960" cy="3931920"/>
          </a:xfrm>
          <a:prstGeom prst="rect">
            <a:avLst/>
          </a:prstGeom>
          <a:noFill/>
        </p:spPr>
        <p:txBody>
          <a:bodyPr wrap="square">
            <a:spAutoFit/>
          </a:bodyPr>
          <a:lstStyle/>
          <a:p>
            <a:pPr>
              <a:defRPr sz="1100">
                <a:solidFill>
                  <a:srgbClr val="101412"/>
                </a:solidFill>
              </a:defRPr>
            </a:pPr>
            <a:r>
              <a:t>Shift Technology, FRISS, SAS Fraud Management, FICO Falcon.</a:t>
            </a:r>
          </a:p>
          <a:p>
            <a:pPr>
              <a:spcBef>
                <a:spcPts val="400"/>
              </a:spcBef>
              <a:defRPr sz="1100">
                <a:solidFill>
                  <a:srgbClr val="101412"/>
                </a:solidFill>
              </a:defRPr>
            </a:pPr>
            <a:r>
              <a:t>What They Provide:</a:t>
            </a:r>
          </a:p>
          <a:p>
            <a:pPr>
              <a:spcBef>
                <a:spcPts val="400"/>
              </a:spcBef>
              <a:defRPr sz="1100">
                <a:solidFill>
                  <a:srgbClr val="101412"/>
                </a:solidFill>
              </a:defRPr>
            </a:pPr>
            <a:r>
              <a:t>  • Basic Fraud Detection</a:t>
            </a:r>
          </a:p>
          <a:p>
            <a:pPr>
              <a:spcBef>
                <a:spcPts val="400"/>
              </a:spcBef>
              <a:defRPr sz="1100">
                <a:solidFill>
                  <a:srgbClr val="101412"/>
                </a:solidFill>
              </a:defRPr>
            </a:pPr>
            <a:r>
              <a:t>  • Standard Risk Scoring</a:t>
            </a:r>
          </a:p>
          <a:p>
            <a:pPr>
              <a:spcBef>
                <a:spcPts val="400"/>
              </a:spcBef>
              <a:defRPr sz="1100">
                <a:solidFill>
                  <a:srgbClr val="101412"/>
                </a:solidFill>
              </a:defRPr>
            </a:pPr>
            <a:r>
              <a:t>  • General Claims Management</a:t>
            </a:r>
          </a:p>
          <a:p>
            <a:pPr>
              <a:spcBef>
                <a:spcPts val="400"/>
              </a:spcBef>
              <a:defRPr sz="1100">
                <a:solidFill>
                  <a:srgbClr val="101412"/>
                </a:solidFill>
              </a:defRPr>
            </a:pPr>
            <a:r>
              <a:t>  • Manual Investigation Workflow</a:t>
            </a:r>
          </a:p>
        </p:txBody>
      </p:sp>
      <p:sp>
        <p:nvSpPr>
          <p:cNvPr id="7" name="Rounded Rectangle 6"/>
          <p:cNvSpPr/>
          <p:nvPr/>
        </p:nvSpPr>
        <p:spPr>
          <a:xfrm>
            <a:off x="4297679" y="1371600"/>
            <a:ext cx="3474720" cy="4846320"/>
          </a:xfrm>
          <a:prstGeom prst="roundRect">
            <a:avLst/>
          </a:prstGeom>
          <a:solidFill>
            <a:srgbClr val="FFFFFF"/>
          </a:solidFill>
          <a:ln w="25400">
            <a:solidFill>
              <a:srgbClr val="FF7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59" y="1536192"/>
            <a:ext cx="3108960" cy="457200"/>
          </a:xfrm>
          <a:prstGeom prst="rect">
            <a:avLst/>
          </a:prstGeom>
          <a:noFill/>
        </p:spPr>
        <p:txBody>
          <a:bodyPr wrap="square">
            <a:spAutoFit/>
          </a:bodyPr>
          <a:lstStyle/>
          <a:p>
            <a:pPr>
              <a:defRPr sz="1600" b="1">
                <a:solidFill>
                  <a:srgbClr val="173B32"/>
                </a:solidFill>
              </a:defRPr>
            </a:pPr>
            <a:r>
              <a:t>ClaimHorizon (Competitor Gaps)</a:t>
            </a:r>
          </a:p>
        </p:txBody>
      </p:sp>
      <p:sp>
        <p:nvSpPr>
          <p:cNvPr id="9" name="TextBox 8"/>
          <p:cNvSpPr txBox="1"/>
          <p:nvPr/>
        </p:nvSpPr>
        <p:spPr>
          <a:xfrm>
            <a:off x="4480559" y="2011680"/>
            <a:ext cx="3108960" cy="3931920"/>
          </a:xfrm>
          <a:prstGeom prst="rect">
            <a:avLst/>
          </a:prstGeom>
          <a:noFill/>
        </p:spPr>
        <p:txBody>
          <a:bodyPr wrap="square">
            <a:spAutoFit/>
          </a:bodyPr>
          <a:lstStyle/>
          <a:p>
            <a:pPr>
              <a:defRPr sz="1100">
                <a:solidFill>
                  <a:srgbClr val="101412"/>
                </a:solidFill>
              </a:defRPr>
            </a:pPr>
            <a:r>
              <a:t>Technology Focus: OCR, Image Metadata, AI Risk Scoring.</a:t>
            </a:r>
          </a:p>
          <a:p>
            <a:pPr>
              <a:spcBef>
                <a:spcPts val="400"/>
              </a:spcBef>
              <a:defRPr sz="1100">
                <a:solidFill>
                  <a:srgbClr val="101412"/>
                </a:solidFill>
              </a:defRPr>
            </a:pPr>
            <a:r>
              <a:t>Gaps in Competitor:</a:t>
            </a:r>
          </a:p>
          <a:p>
            <a:pPr>
              <a:spcBef>
                <a:spcPts val="400"/>
              </a:spcBef>
              <a:defRPr sz="1100">
                <a:solidFill>
                  <a:srgbClr val="C82828"/>
                </a:solidFill>
              </a:defRPr>
            </a:pPr>
            <a:r>
              <a:t>  ❌ No Graph Analytics for Fraud Rings</a:t>
            </a:r>
          </a:p>
          <a:p>
            <a:pPr>
              <a:spcBef>
                <a:spcPts val="400"/>
              </a:spcBef>
              <a:defRPr sz="1100">
                <a:solidFill>
                  <a:srgbClr val="C82828"/>
                </a:solidFill>
              </a:defRPr>
            </a:pPr>
            <a:r>
              <a:t>  ❌ No SHAP Explainability Engine</a:t>
            </a:r>
          </a:p>
          <a:p>
            <a:pPr>
              <a:spcBef>
                <a:spcPts val="400"/>
              </a:spcBef>
              <a:defRPr sz="1100">
                <a:solidFill>
                  <a:srgbClr val="C82828"/>
                </a:solidFill>
              </a:defRPr>
            </a:pPr>
            <a:r>
              <a:t>  ❌ No Conversational LLM AI Copilot</a:t>
            </a:r>
          </a:p>
          <a:p>
            <a:pPr>
              <a:spcBef>
                <a:spcPts val="400"/>
              </a:spcBef>
              <a:defRPr sz="1100">
                <a:solidFill>
                  <a:srgbClr val="C82828"/>
                </a:solidFill>
              </a:defRPr>
            </a:pPr>
            <a:r>
              <a:t>  ❌ No Real-time Interactive Dashboard</a:t>
            </a:r>
          </a:p>
        </p:txBody>
      </p:sp>
      <p:sp>
        <p:nvSpPr>
          <p:cNvPr id="10" name="Rounded Rectangle 9"/>
          <p:cNvSpPr/>
          <p:nvPr/>
        </p:nvSpPr>
        <p:spPr>
          <a:xfrm>
            <a:off x="8046719" y="1371600"/>
            <a:ext cx="3474720" cy="4846320"/>
          </a:xfrm>
          <a:prstGeom prst="roundRect">
            <a:avLst/>
          </a:prstGeom>
          <a:solidFill>
            <a:srgbClr val="FFFFFF"/>
          </a:solidFill>
          <a:ln w="25400">
            <a:solidFill>
              <a:srgbClr val="A3E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9" y="1536192"/>
            <a:ext cx="3108960" cy="457200"/>
          </a:xfrm>
          <a:prstGeom prst="rect">
            <a:avLst/>
          </a:prstGeom>
          <a:noFill/>
        </p:spPr>
        <p:txBody>
          <a:bodyPr wrap="square">
            <a:spAutoFit/>
          </a:bodyPr>
          <a:lstStyle/>
          <a:p>
            <a:pPr>
              <a:defRPr sz="1600" b="1">
                <a:solidFill>
                  <a:srgbClr val="173B32"/>
                </a:solidFill>
              </a:defRPr>
            </a:pPr>
            <a:r>
              <a:t>ClaimSense 360 (Our Edge)</a:t>
            </a:r>
          </a:p>
        </p:txBody>
      </p:sp>
      <p:sp>
        <p:nvSpPr>
          <p:cNvPr id="12" name="TextBox 11"/>
          <p:cNvSpPr txBox="1"/>
          <p:nvPr/>
        </p:nvSpPr>
        <p:spPr>
          <a:xfrm>
            <a:off x="8229599" y="2011680"/>
            <a:ext cx="3108960" cy="3931920"/>
          </a:xfrm>
          <a:prstGeom prst="rect">
            <a:avLst/>
          </a:prstGeom>
          <a:noFill/>
        </p:spPr>
        <p:txBody>
          <a:bodyPr wrap="square">
            <a:spAutoFit/>
          </a:bodyPr>
          <a:lstStyle/>
          <a:p>
            <a:pPr>
              <a:defRPr sz="1100">
                <a:solidFill>
                  <a:srgbClr val="101412"/>
                </a:solidFill>
              </a:defRPr>
            </a:pPr>
            <a:r>
              <a:t>Proposed Innovations &amp; Enhancements:</a:t>
            </a:r>
          </a:p>
          <a:p>
            <a:pPr>
              <a:spcBef>
                <a:spcPts val="400"/>
              </a:spcBef>
              <a:defRPr sz="1100">
                <a:solidFill>
                  <a:srgbClr val="173B32"/>
                </a:solidFill>
              </a:defRPr>
            </a:pPr>
            <a:r>
              <a:t>  ✔ Graph Analytics (Neo4j) for Organized Fraud</a:t>
            </a:r>
          </a:p>
          <a:p>
            <a:pPr>
              <a:spcBef>
                <a:spcPts val="400"/>
              </a:spcBef>
              <a:defRPr sz="1100">
                <a:solidFill>
                  <a:srgbClr val="173B32"/>
                </a:solidFill>
              </a:defRPr>
            </a:pPr>
            <a:r>
              <a:t>  ✔ Explainable AI (SHAP Factor Attribution)</a:t>
            </a:r>
          </a:p>
          <a:p>
            <a:pPr>
              <a:spcBef>
                <a:spcPts val="400"/>
              </a:spcBef>
              <a:defRPr sz="1100">
                <a:solidFill>
                  <a:srgbClr val="173B32"/>
                </a:solidFill>
              </a:defRPr>
            </a:pPr>
            <a:r>
              <a:t>  ✔ Conversational AI Investigator Copilot Desk</a:t>
            </a:r>
          </a:p>
          <a:p>
            <a:pPr>
              <a:spcBef>
                <a:spcPts val="400"/>
              </a:spcBef>
              <a:defRPr sz="1100">
                <a:solidFill>
                  <a:srgbClr val="173B32"/>
                </a:solidFill>
              </a:defRPr>
            </a:pPr>
            <a:r>
              <a:t>  ✔ Digital Image Telemetry &amp; EXIF Forensics</a:t>
            </a:r>
          </a:p>
          <a:p>
            <a:pPr>
              <a:spcBef>
                <a:spcPts val="400"/>
              </a:spcBef>
              <a:defRPr sz="1100">
                <a:solidFill>
                  <a:srgbClr val="173B32"/>
                </a:solidFill>
              </a:defRPr>
            </a:pPr>
            <a:r>
              <a:t>  ✔ Sub-300ms Instant Interactive Decisioning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731520"/>
          </a:xfrm>
          <a:prstGeom prst="rect">
            <a:avLst/>
          </a:prstGeom>
          <a:noFill/>
        </p:spPr>
        <p:txBody>
          <a:bodyPr wrap="square">
            <a:spAutoFit/>
          </a:bodyPr>
          <a:lstStyle/>
          <a:p>
            <a:pPr>
              <a:defRPr sz="2800" b="1">
                <a:solidFill>
                  <a:srgbClr val="173B32"/>
                </a:solidFill>
              </a:defRPr>
            </a:pPr>
            <a:r>
              <a:t>COMPARATIVE ANALYSIS MATRIX</a:t>
            </a:r>
          </a:p>
        </p:txBody>
      </p:sp>
      <p:graphicFrame>
        <p:nvGraphicFramePr>
          <p:cNvPr id="4" name="Table 3"/>
          <p:cNvGraphicFramePr>
            <a:graphicFrameLocks noGrp="1"/>
          </p:cNvGraphicFramePr>
          <p:nvPr/>
        </p:nvGraphicFramePr>
        <p:xfrm>
          <a:off x="548640" y="1280160"/>
          <a:ext cx="11094415" cy="4937760"/>
        </p:xfrm>
        <a:graphic>
          <a:graphicData uri="http://schemas.openxmlformats.org/drawingml/2006/table">
            <a:tbl>
              <a:tblPr firstRow="1" bandRow="1">
                <a:tableStyleId>{5C22544A-7EE6-4342-B048-85BDC9FD1C3A}</a:tableStyleId>
              </a:tblPr>
              <a:tblGrid>
                <a:gridCol w="2926080"/>
                <a:gridCol w="4023360"/>
                <a:gridCol w="4144975"/>
              </a:tblGrid>
              <a:tr h="705394">
                <a:tc>
                  <a:txBody>
                    <a:bodyPr/>
                    <a:lstStyle/>
                    <a:p>
                      <a:pPr>
                        <a:defRPr sz="1100" b="1">
                          <a:solidFill>
                            <a:srgbClr val="FFFFFF"/>
                          </a:solidFill>
                        </a:defRPr>
                      </a:pPr>
                      <a:r>
                        <a:t>FEATURE / CAPABILITY</a:t>
                      </a:r>
                    </a:p>
                  </a:txBody>
                  <a:tcPr>
                    <a:solidFill>
                      <a:srgbClr val="1E293B"/>
                    </a:solidFill>
                  </a:tcPr>
                </a:tc>
                <a:tc>
                  <a:txBody>
                    <a:bodyPr/>
                    <a:lstStyle/>
                    <a:p>
                      <a:pPr>
                        <a:defRPr sz="1100" b="1">
                          <a:solidFill>
                            <a:srgbClr val="FFFFFF"/>
                          </a:solidFill>
                        </a:defRPr>
                      </a:pPr>
                      <a:r>
                        <a:t>EXISTING INSURANCE CLAIM SYSTEMS</a:t>
                      </a:r>
                    </a:p>
                  </a:txBody>
                  <a:tcPr>
                    <a:solidFill>
                      <a:srgbClr val="1E293B"/>
                    </a:solidFill>
                  </a:tcPr>
                </a:tc>
                <a:tc>
                  <a:txBody>
                    <a:bodyPr/>
                    <a:lstStyle/>
                    <a:p>
                      <a:pPr>
                        <a:defRPr sz="1100" b="1">
                          <a:solidFill>
                            <a:srgbClr val="FFFFFF"/>
                          </a:solidFill>
                        </a:defRPr>
                      </a:pPr>
                      <a:r>
                        <a:t>PROPOSED CLAIMSENSE 360 PLATFORM</a:t>
                      </a:r>
                    </a:p>
                  </a:txBody>
                  <a:tcPr>
                    <a:solidFill>
                      <a:srgbClr val="173B32"/>
                    </a:solidFill>
                  </a:tcPr>
                </a:tc>
              </a:tr>
              <a:tr h="705394">
                <a:tc>
                  <a:txBody>
                    <a:bodyPr/>
                    <a:lstStyle/>
                    <a:p>
                      <a:pPr>
                        <a:defRPr sz="1100">
                          <a:solidFill>
                            <a:srgbClr val="101412"/>
                          </a:solidFill>
                        </a:defRPr>
                      </a:pPr>
                      <a:r>
                        <a:t>Claim Verification</a:t>
                      </a:r>
                    </a:p>
                  </a:txBody>
                  <a:tcPr>
                    <a:solidFill>
                      <a:srgbClr val="FFFFFF"/>
                    </a:solidFill>
                  </a:tcPr>
                </a:tc>
                <a:tc>
                  <a:txBody>
                    <a:bodyPr/>
                    <a:lstStyle/>
                    <a:p>
                      <a:pPr>
                        <a:defRPr sz="1100">
                          <a:solidFill>
                            <a:srgbClr val="101412"/>
                          </a:solidFill>
                        </a:defRPr>
                      </a:pPr>
                      <a:r>
                        <a:t>Primarily manual, repetitive, and time-consuming.</a:t>
                      </a:r>
                    </a:p>
                  </a:txBody>
                  <a:tcPr>
                    <a:solidFill>
                      <a:srgbClr val="FFFFFF"/>
                    </a:solidFill>
                  </a:tcPr>
                </a:tc>
                <a:tc>
                  <a:txBody>
                    <a:bodyPr/>
                    <a:lstStyle/>
                    <a:p>
                      <a:pPr>
                        <a:defRPr sz="1100">
                          <a:solidFill>
                            <a:srgbClr val="101412"/>
                          </a:solidFill>
                        </a:defRPr>
                      </a:pPr>
                      <a:r>
                        <a:t>AI-assisted automated screening with minimal manual oversight.</a:t>
                      </a:r>
                    </a:p>
                  </a:txBody>
                  <a:tcPr>
                    <a:solidFill>
                      <a:srgbClr val="F0F5EB"/>
                    </a:solidFill>
                  </a:tcPr>
                </a:tc>
              </a:tr>
              <a:tr h="705394">
                <a:tc>
                  <a:txBody>
                    <a:bodyPr/>
                    <a:lstStyle/>
                    <a:p>
                      <a:pPr>
                        <a:defRPr sz="1100">
                          <a:solidFill>
                            <a:srgbClr val="101412"/>
                          </a:solidFill>
                        </a:defRPr>
                      </a:pPr>
                      <a:r>
                        <a:t>Fraud Detection</a:t>
                      </a:r>
                    </a:p>
                  </a:txBody>
                  <a:tcPr>
                    <a:solidFill>
                      <a:srgbClr val="FFFFFF"/>
                    </a:solidFill>
                  </a:tcPr>
                </a:tc>
                <a:tc>
                  <a:txBody>
                    <a:bodyPr/>
                    <a:lstStyle/>
                    <a:p>
                      <a:pPr>
                        <a:defRPr sz="1100">
                          <a:solidFill>
                            <a:srgbClr val="101412"/>
                          </a:solidFill>
                        </a:defRPr>
                      </a:pPr>
                      <a:r>
                        <a:t>Basic static rule-based checks or rigid isolated ML scores.</a:t>
                      </a:r>
                    </a:p>
                  </a:txBody>
                  <a:tcPr>
                    <a:solidFill>
                      <a:srgbClr val="FFFFFF"/>
                    </a:solidFill>
                  </a:tcPr>
                </a:tc>
                <a:tc>
                  <a:txBody>
                    <a:bodyPr/>
                    <a:lstStyle/>
                    <a:p>
                      <a:pPr>
                        <a:defRPr sz="1100">
                          <a:solidFill>
                            <a:srgbClr val="101412"/>
                          </a:solidFill>
                        </a:defRPr>
                      </a:pPr>
                      <a:r>
                        <a:t>Advanced ensemble machine learning (XGBoost/Random Forest).</a:t>
                      </a:r>
                    </a:p>
                  </a:txBody>
                  <a:tcPr>
                    <a:solidFill>
                      <a:srgbClr val="F0F5EB"/>
                    </a:solidFill>
                  </a:tcPr>
                </a:tc>
              </a:tr>
              <a:tr h="705394">
                <a:tc>
                  <a:txBody>
                    <a:bodyPr/>
                    <a:lstStyle/>
                    <a:p>
                      <a:pPr>
                        <a:defRPr sz="1100">
                          <a:solidFill>
                            <a:srgbClr val="101412"/>
                          </a:solidFill>
                        </a:defRPr>
                      </a:pPr>
                      <a:r>
                        <a:t>Damage Image Analysis</a:t>
                      </a:r>
                    </a:p>
                  </a:txBody>
                  <a:tcPr>
                    <a:solidFill>
                      <a:srgbClr val="FFFFFF"/>
                    </a:solidFill>
                  </a:tcPr>
                </a:tc>
                <a:tc>
                  <a:txBody>
                    <a:bodyPr/>
                    <a:lstStyle/>
                    <a:p>
                      <a:pPr>
                        <a:defRPr sz="1100">
                          <a:solidFill>
                            <a:srgbClr val="101412"/>
                          </a:solidFill>
                        </a:defRPr>
                      </a:pPr>
                      <a:r>
                        <a:t>Manual inspection of photos by specialized engineers.</a:t>
                      </a:r>
                    </a:p>
                  </a:txBody>
                  <a:tcPr>
                    <a:solidFill>
                      <a:srgbClr val="FFFFFF"/>
                    </a:solidFill>
                  </a:tcPr>
                </a:tc>
                <a:tc>
                  <a:txBody>
                    <a:bodyPr/>
                    <a:lstStyle/>
                    <a:p>
                      <a:pPr>
                        <a:defRPr sz="1100">
                          <a:solidFill>
                            <a:srgbClr val="101412"/>
                          </a:solidFill>
                        </a:defRPr>
                      </a:pPr>
                      <a:r>
                        <a:t>Computer Vision automated verification &amp; similarity checks (YOLOv8).</a:t>
                      </a:r>
                    </a:p>
                  </a:txBody>
                  <a:tcPr>
                    <a:solidFill>
                      <a:srgbClr val="F0F5EB"/>
                    </a:solidFill>
                  </a:tcPr>
                </a:tc>
              </a:tr>
              <a:tr h="705394">
                <a:tc>
                  <a:txBody>
                    <a:bodyPr/>
                    <a:lstStyle/>
                    <a:p>
                      <a:pPr>
                        <a:defRPr sz="1100">
                          <a:solidFill>
                            <a:srgbClr val="101412"/>
                          </a:solidFill>
                        </a:defRPr>
                      </a:pPr>
                      <a:r>
                        <a:t>Fraud Ring Detection</a:t>
                      </a:r>
                    </a:p>
                  </a:txBody>
                  <a:tcPr>
                    <a:solidFill>
                      <a:srgbClr val="FFFFFF"/>
                    </a:solidFill>
                  </a:tcPr>
                </a:tc>
                <a:tc>
                  <a:txBody>
                    <a:bodyPr/>
                    <a:lstStyle/>
                    <a:p>
                      <a:pPr>
                        <a:defRPr sz="1100">
                          <a:solidFill>
                            <a:srgbClr val="101412"/>
                          </a:solidFill>
                        </a:defRPr>
                      </a:pPr>
                      <a:r>
                        <a:t>Not supported; cannot link entities across multiple claims.</a:t>
                      </a:r>
                    </a:p>
                  </a:txBody>
                  <a:tcPr>
                    <a:solidFill>
                      <a:srgbClr val="FFFFFF"/>
                    </a:solidFill>
                  </a:tcPr>
                </a:tc>
                <a:tc>
                  <a:txBody>
                    <a:bodyPr/>
                    <a:lstStyle/>
                    <a:p>
                      <a:pPr>
                        <a:defRPr sz="1100">
                          <a:solidFill>
                            <a:srgbClr val="101412"/>
                          </a:solidFill>
                        </a:defRPr>
                      </a:pPr>
                      <a:r>
                        <a:t>Graph Analytics (Neo4j) to pinpoint coordinated networks.</a:t>
                      </a:r>
                    </a:p>
                  </a:txBody>
                  <a:tcPr>
                    <a:solidFill>
                      <a:srgbClr val="F0F5EB"/>
                    </a:solidFill>
                  </a:tcPr>
                </a:tc>
              </a:tr>
              <a:tr h="705394">
                <a:tc>
                  <a:txBody>
                    <a:bodyPr/>
                    <a:lstStyle/>
                    <a:p>
                      <a:pPr>
                        <a:defRPr sz="1100">
                          <a:solidFill>
                            <a:srgbClr val="101412"/>
                          </a:solidFill>
                        </a:defRPr>
                      </a:pPr>
                      <a:r>
                        <a:t>Explainability (XAI)</a:t>
                      </a:r>
                    </a:p>
                  </a:txBody>
                  <a:tcPr>
                    <a:solidFill>
                      <a:srgbClr val="FFFFFF"/>
                    </a:solidFill>
                  </a:tcPr>
                </a:tc>
                <a:tc>
                  <a:txBody>
                    <a:bodyPr/>
                    <a:lstStyle/>
                    <a:p>
                      <a:pPr>
                        <a:defRPr sz="1100">
                          <a:solidFill>
                            <a:srgbClr val="101412"/>
                          </a:solidFill>
                        </a:defRPr>
                      </a:pPr>
                      <a:r>
                        <a:t>Black-box outputs or scores with no detailed reasoning.</a:t>
                      </a:r>
                    </a:p>
                  </a:txBody>
                  <a:tcPr>
                    <a:solidFill>
                      <a:srgbClr val="FFFFFF"/>
                    </a:solidFill>
                  </a:tcPr>
                </a:tc>
                <a:tc>
                  <a:txBody>
                    <a:bodyPr/>
                    <a:lstStyle/>
                    <a:p>
                      <a:pPr>
                        <a:defRPr sz="1100">
                          <a:solidFill>
                            <a:srgbClr val="101412"/>
                          </a:solidFill>
                        </a:defRPr>
                      </a:pPr>
                      <a:r>
                        <a:t>SHAP framework providing visual factor-level explanations.</a:t>
                      </a:r>
                    </a:p>
                  </a:txBody>
                  <a:tcPr>
                    <a:solidFill>
                      <a:srgbClr val="F0F5EB"/>
                    </a:solidFill>
                  </a:tcPr>
                </a:tc>
              </a:tr>
              <a:tr h="705396">
                <a:tc>
                  <a:txBody>
                    <a:bodyPr/>
                    <a:lstStyle/>
                    <a:p>
                      <a:pPr>
                        <a:defRPr sz="1100">
                          <a:solidFill>
                            <a:srgbClr val="101412"/>
                          </a:solidFill>
                        </a:defRPr>
                      </a:pPr>
                      <a:r>
                        <a:t>AI Decision Support</a:t>
                      </a:r>
                    </a:p>
                  </a:txBody>
                  <a:tcPr>
                    <a:solidFill>
                      <a:srgbClr val="FFFFFF"/>
                    </a:solidFill>
                  </a:tcPr>
                </a:tc>
                <a:tc>
                  <a:txBody>
                    <a:bodyPr/>
                    <a:lstStyle/>
                    <a:p>
                      <a:pPr>
                        <a:defRPr sz="1100">
                          <a:solidFill>
                            <a:srgbClr val="101412"/>
                          </a:solidFill>
                        </a:defRPr>
                      </a:pPr>
                      <a:r>
                        <a:t>Not available; investigators work without guidance.</a:t>
                      </a:r>
                    </a:p>
                  </a:txBody>
                  <a:tcPr>
                    <a:solidFill>
                      <a:srgbClr val="FFFFFF"/>
                    </a:solidFill>
                  </a:tcPr>
                </a:tc>
                <a:tc>
                  <a:txBody>
                    <a:bodyPr/>
                    <a:lstStyle/>
                    <a:p>
                      <a:pPr>
                        <a:defRPr sz="1100">
                          <a:solidFill>
                            <a:srgbClr val="101412"/>
                          </a:solidFill>
                        </a:defRPr>
                      </a:pPr>
                      <a:r>
                        <a:t>Interactive AI Copilot (LLM + LangChain) for query support.</a:t>
                      </a:r>
                    </a:p>
                  </a:txBody>
                  <a:tcPr>
                    <a:solidFill>
                      <a:srgbClr val="F0F5EB"/>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731520"/>
          </a:xfrm>
          <a:prstGeom prst="rect">
            <a:avLst/>
          </a:prstGeom>
          <a:noFill/>
        </p:spPr>
        <p:txBody>
          <a:bodyPr wrap="square">
            <a:spAutoFit/>
          </a:bodyPr>
          <a:lstStyle/>
          <a:p>
            <a:pPr>
              <a:defRPr sz="2800" b="1">
                <a:solidFill>
                  <a:srgbClr val="173B32"/>
                </a:solidFill>
              </a:defRPr>
            </a:pPr>
            <a:r>
              <a:t>SYSTEM WORKFLOW &amp; ARCHITECTURE</a:t>
            </a:r>
          </a:p>
        </p:txBody>
      </p:sp>
      <p:sp>
        <p:nvSpPr>
          <p:cNvPr id="4" name="Rounded Rectangle 3"/>
          <p:cNvSpPr/>
          <p:nvPr/>
        </p:nvSpPr>
        <p:spPr>
          <a:xfrm>
            <a:off x="548640" y="1280160"/>
            <a:ext cx="11094415" cy="4937760"/>
          </a:xfrm>
          <a:prstGeom prst="roundRect">
            <a:avLst/>
          </a:prstGeom>
          <a:solidFill>
            <a:srgbClr val="FFFFFF"/>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44752"/>
            <a:ext cx="10728655" cy="457200"/>
          </a:xfrm>
          <a:prstGeom prst="rect">
            <a:avLst/>
          </a:prstGeom>
          <a:noFill/>
        </p:spPr>
        <p:txBody>
          <a:bodyPr wrap="square">
            <a:spAutoFit/>
          </a:bodyPr>
          <a:lstStyle/>
          <a:p>
            <a:pPr>
              <a:defRPr sz="1600" b="1">
                <a:solidFill>
                  <a:srgbClr val="173B32"/>
                </a:solidFill>
              </a:defRPr>
            </a:pPr>
            <a:r>
              <a:t>System Architecture Flow</a:t>
            </a:r>
          </a:p>
        </p:txBody>
      </p:sp>
      <p:sp>
        <p:nvSpPr>
          <p:cNvPr id="6" name="Rounded Rectangle 5"/>
          <p:cNvSpPr/>
          <p:nvPr/>
        </p:nvSpPr>
        <p:spPr>
          <a:xfrm>
            <a:off x="4206240" y="1920240"/>
            <a:ext cx="3779215" cy="548640"/>
          </a:xfrm>
          <a:prstGeom prst="roundRect">
            <a:avLst/>
          </a:prstGeom>
          <a:solidFill>
            <a:srgbClr val="DCEE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B32"/>
                </a:solidFill>
              </a:defRPr>
            </a:pPr>
            <a:r>
              <a:t>👤 USER (React Web Application &amp; Intake Dashboard)</a:t>
            </a:r>
          </a:p>
        </p:txBody>
      </p:sp>
      <p:sp>
        <p:nvSpPr>
          <p:cNvPr id="7" name="Rounded Rectangle 6"/>
          <p:cNvSpPr/>
          <p:nvPr/>
        </p:nvSpPr>
        <p:spPr>
          <a:xfrm>
            <a:off x="3749039" y="2743200"/>
            <a:ext cx="4693615" cy="548640"/>
          </a:xfrm>
          <a:prstGeom prst="roundRect">
            <a:avLst/>
          </a:prstGeom>
          <a:solidFill>
            <a:srgbClr val="F5E6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B32"/>
                </a:solidFill>
              </a:defRPr>
            </a:pPr>
            <a:r>
              <a:t>⚡ FastAPI Backend (Async REST Business Logic &amp; Schemas)</a:t>
            </a:r>
          </a:p>
        </p:txBody>
      </p:sp>
      <p:sp>
        <p:nvSpPr>
          <p:cNvPr id="8" name="Rounded Rectangle 7"/>
          <p:cNvSpPr/>
          <p:nvPr/>
        </p:nvSpPr>
        <p:spPr>
          <a:xfrm>
            <a:off x="548640" y="3566160"/>
            <a:ext cx="2011680" cy="685800"/>
          </a:xfrm>
          <a:prstGeom prst="roundRect">
            <a:avLst/>
          </a:prstGeom>
          <a:solidFill>
            <a:srgbClr val="FFEBEB"/>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73B32"/>
                </a:solidFill>
              </a:defRPr>
            </a:pPr>
            <a:r>
              <a:t>🧠 Machine Learning</a:t>
            </a:r>
            <a:br/>
            <a:r>
              <a:t>Fraud Model</a:t>
            </a:r>
          </a:p>
        </p:txBody>
      </p:sp>
      <p:sp>
        <p:nvSpPr>
          <p:cNvPr id="9" name="Rounded Rectangle 8"/>
          <p:cNvSpPr/>
          <p:nvPr/>
        </p:nvSpPr>
        <p:spPr>
          <a:xfrm>
            <a:off x="2724912" y="3566160"/>
            <a:ext cx="2011680" cy="685800"/>
          </a:xfrm>
          <a:prstGeom prst="roundRect">
            <a:avLst/>
          </a:prstGeom>
          <a:solidFill>
            <a:srgbClr val="EBFFEB"/>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73B32"/>
                </a:solidFill>
              </a:defRPr>
            </a:pPr>
            <a:r>
              <a:t>👁 Computer Vision</a:t>
            </a:r>
            <a:br/>
            <a:r>
              <a:t>Damage Check</a:t>
            </a:r>
          </a:p>
        </p:txBody>
      </p:sp>
      <p:sp>
        <p:nvSpPr>
          <p:cNvPr id="10" name="Rounded Rectangle 9"/>
          <p:cNvSpPr/>
          <p:nvPr/>
        </p:nvSpPr>
        <p:spPr>
          <a:xfrm>
            <a:off x="4901183" y="3566160"/>
            <a:ext cx="2011680" cy="685800"/>
          </a:xfrm>
          <a:prstGeom prst="roundRect">
            <a:avLst/>
          </a:prstGeom>
          <a:solidFill>
            <a:srgbClr val="FFEBEB"/>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73B32"/>
                </a:solidFill>
              </a:defRPr>
            </a:pPr>
            <a:r>
              <a:t>💬 NLP Module</a:t>
            </a:r>
            <a:br/>
            <a:r>
              <a:t>Claim Text Analysis</a:t>
            </a:r>
          </a:p>
        </p:txBody>
      </p:sp>
      <p:sp>
        <p:nvSpPr>
          <p:cNvPr id="11" name="Rounded Rectangle 10"/>
          <p:cNvSpPr/>
          <p:nvPr/>
        </p:nvSpPr>
        <p:spPr>
          <a:xfrm>
            <a:off x="7077455" y="3566160"/>
            <a:ext cx="2011680" cy="685800"/>
          </a:xfrm>
          <a:prstGeom prst="roundRect">
            <a:avLst/>
          </a:prstGeom>
          <a:solidFill>
            <a:srgbClr val="EBFFEB"/>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73B32"/>
                </a:solidFill>
              </a:defRPr>
            </a:pPr>
            <a:r>
              <a:t>📈 Graph Analytics</a:t>
            </a:r>
            <a:br/>
            <a:r>
              <a:t>Fraud Rings</a:t>
            </a:r>
          </a:p>
        </p:txBody>
      </p:sp>
      <p:sp>
        <p:nvSpPr>
          <p:cNvPr id="12" name="Rounded Rectangle 11"/>
          <p:cNvSpPr/>
          <p:nvPr/>
        </p:nvSpPr>
        <p:spPr>
          <a:xfrm>
            <a:off x="9253728" y="3566160"/>
            <a:ext cx="2011680" cy="685800"/>
          </a:xfrm>
          <a:prstGeom prst="roundRect">
            <a:avLst/>
          </a:prstGeom>
          <a:solidFill>
            <a:srgbClr val="FFEBEB"/>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73B32"/>
                </a:solidFill>
              </a:defRPr>
            </a:pPr>
            <a:r>
              <a:t>📄 OCR Module</a:t>
            </a:r>
            <a:br/>
            <a:r>
              <a:t>Documents Extraction</a:t>
            </a:r>
          </a:p>
        </p:txBody>
      </p:sp>
      <p:sp>
        <p:nvSpPr>
          <p:cNvPr id="13" name="Rounded Rectangle 12"/>
          <p:cNvSpPr/>
          <p:nvPr/>
        </p:nvSpPr>
        <p:spPr>
          <a:xfrm>
            <a:off x="3291840" y="4389120"/>
            <a:ext cx="5608015" cy="548640"/>
          </a:xfrm>
          <a:prstGeom prst="roundRect">
            <a:avLst/>
          </a:prstGeom>
          <a:solidFill>
            <a:srgbClr val="A3E63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B32"/>
                </a:solidFill>
              </a:defRPr>
            </a:pPr>
            <a:r>
              <a:t>✨ Explainable AI (SHAP TreeExplainer &amp; Risk Factor Attribution)</a:t>
            </a:r>
          </a:p>
        </p:txBody>
      </p:sp>
      <p:sp>
        <p:nvSpPr>
          <p:cNvPr id="14" name="Rounded Rectangle 13"/>
          <p:cNvSpPr/>
          <p:nvPr/>
        </p:nvSpPr>
        <p:spPr>
          <a:xfrm>
            <a:off x="1463040" y="5212080"/>
            <a:ext cx="9265615" cy="640080"/>
          </a:xfrm>
          <a:prstGeom prst="roundRect">
            <a:avLst/>
          </a:prstGeom>
          <a:solidFill>
            <a:srgbClr val="1E293B"/>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 Decision Intelligence Engine: Risk Scoring | Priority SIU Queue | AI Copilot Desk | PostgreSQL Data Persistence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731520"/>
          </a:xfrm>
          <a:prstGeom prst="rect">
            <a:avLst/>
          </a:prstGeom>
          <a:noFill/>
        </p:spPr>
        <p:txBody>
          <a:bodyPr wrap="square">
            <a:spAutoFit/>
          </a:bodyPr>
          <a:lstStyle/>
          <a:p>
            <a:pPr>
              <a:defRPr sz="2800" b="1">
                <a:solidFill>
                  <a:srgbClr val="173B32"/>
                </a:solidFill>
              </a:defRPr>
            </a:pPr>
            <a:r>
              <a:t>DEVELOPMENT APPROACH &amp; CHALLENGES FACED (S2)</a:t>
            </a:r>
          </a:p>
        </p:txBody>
      </p:sp>
      <p:sp>
        <p:nvSpPr>
          <p:cNvPr id="4" name="Rounded Rectangle 3"/>
          <p:cNvSpPr/>
          <p:nvPr/>
        </p:nvSpPr>
        <p:spPr>
          <a:xfrm>
            <a:off x="548640" y="1371600"/>
            <a:ext cx="5303520" cy="4846320"/>
          </a:xfrm>
          <a:prstGeom prst="roundRect">
            <a:avLst/>
          </a:prstGeom>
          <a:solidFill>
            <a:srgbClr val="FFFFFF"/>
          </a:solidFill>
          <a:ln w="25400">
            <a:solidFill>
              <a:srgbClr val="FF7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36192"/>
            <a:ext cx="4937760" cy="457200"/>
          </a:xfrm>
          <a:prstGeom prst="rect">
            <a:avLst/>
          </a:prstGeom>
          <a:noFill/>
        </p:spPr>
        <p:txBody>
          <a:bodyPr wrap="square">
            <a:spAutoFit/>
          </a:bodyPr>
          <a:lstStyle/>
          <a:p>
            <a:pPr>
              <a:defRPr sz="1600" b="1">
                <a:solidFill>
                  <a:srgbClr val="173B32"/>
                </a:solidFill>
              </a:defRPr>
            </a:pPr>
            <a:r>
              <a:t>🛠 Engineering Challenges Faced</a:t>
            </a:r>
          </a:p>
        </p:txBody>
      </p:sp>
      <p:sp>
        <p:nvSpPr>
          <p:cNvPr id="6" name="TextBox 5"/>
          <p:cNvSpPr txBox="1"/>
          <p:nvPr/>
        </p:nvSpPr>
        <p:spPr>
          <a:xfrm>
            <a:off x="731520" y="2011680"/>
            <a:ext cx="4937760" cy="4023360"/>
          </a:xfrm>
          <a:prstGeom prst="rect">
            <a:avLst/>
          </a:prstGeom>
          <a:noFill/>
        </p:spPr>
        <p:txBody>
          <a:bodyPr wrap="square">
            <a:spAutoFit/>
          </a:bodyPr>
          <a:lstStyle/>
          <a:p>
            <a:pPr>
              <a:defRPr sz="1100">
                <a:solidFill>
                  <a:srgbClr val="101412"/>
                </a:solidFill>
              </a:defRPr>
            </a:pPr>
            <a:r>
              <a:t>1. Multi-Model Pipeline Orchestration: Combining XGBoost, NLP deception, Computer Vision, and SHAP into a unified sub-300ms response.</a:t>
            </a:r>
          </a:p>
          <a:p>
            <a:pPr>
              <a:spcBef>
                <a:spcPts val="1000"/>
              </a:spcBef>
              <a:defRPr sz="1100">
                <a:solidFill>
                  <a:srgbClr val="101412"/>
                </a:solidFill>
              </a:defRPr>
            </a:pPr>
            <a:r>
              <a:t>2. Serverless Cold Starts &amp; Timeouts: Handling execution memory limits on cloud platforms.</a:t>
            </a:r>
          </a:p>
          <a:p>
            <a:pPr>
              <a:spcBef>
                <a:spcPts val="1000"/>
              </a:spcBef>
              <a:defRPr sz="1100">
                <a:solidFill>
                  <a:srgbClr val="101412"/>
                </a:solidFill>
              </a:defRPr>
            </a:pPr>
            <a:r>
              <a:t>3. Stateful Data Persistence: Preventing data mix-ups when viewing newly submitted claims across Server Components.</a:t>
            </a:r>
          </a:p>
        </p:txBody>
      </p:sp>
      <p:sp>
        <p:nvSpPr>
          <p:cNvPr id="7" name="Rounded Rectangle 6"/>
          <p:cNvSpPr/>
          <p:nvPr/>
        </p:nvSpPr>
        <p:spPr>
          <a:xfrm>
            <a:off x="6217920" y="1371600"/>
            <a:ext cx="5303520" cy="4846320"/>
          </a:xfrm>
          <a:prstGeom prst="roundRect">
            <a:avLst/>
          </a:prstGeom>
          <a:solidFill>
            <a:srgbClr val="FFFFFF"/>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36192"/>
            <a:ext cx="4937760" cy="457200"/>
          </a:xfrm>
          <a:prstGeom prst="rect">
            <a:avLst/>
          </a:prstGeom>
          <a:noFill/>
        </p:spPr>
        <p:txBody>
          <a:bodyPr wrap="square">
            <a:spAutoFit/>
          </a:bodyPr>
          <a:lstStyle/>
          <a:p>
            <a:pPr>
              <a:defRPr sz="1600" b="1">
                <a:solidFill>
                  <a:srgbClr val="173B32"/>
                </a:solidFill>
              </a:defRPr>
            </a:pPr>
            <a:r>
              <a:t>💡 Implemented Engineering Solutions</a:t>
            </a:r>
          </a:p>
        </p:txBody>
      </p:sp>
      <p:sp>
        <p:nvSpPr>
          <p:cNvPr id="9" name="TextBox 8"/>
          <p:cNvSpPr txBox="1"/>
          <p:nvPr/>
        </p:nvSpPr>
        <p:spPr>
          <a:xfrm>
            <a:off x="6400800" y="2011680"/>
            <a:ext cx="4937760" cy="4023360"/>
          </a:xfrm>
          <a:prstGeom prst="rect">
            <a:avLst/>
          </a:prstGeom>
          <a:noFill/>
        </p:spPr>
        <p:txBody>
          <a:bodyPr wrap="square">
            <a:spAutoFit/>
          </a:bodyPr>
          <a:lstStyle/>
          <a:p>
            <a:pPr>
              <a:defRPr sz="1100">
                <a:solidFill>
                  <a:srgbClr val="173B32"/>
                </a:solidFill>
              </a:defRPr>
            </a:pPr>
            <a:r>
              <a:t>1. Standardized JSON Pydantic Schemas: Unified contract structure across all AI microservices.</a:t>
            </a:r>
          </a:p>
          <a:p>
            <a:pPr>
              <a:spcBef>
                <a:spcPts val="1000"/>
              </a:spcBef>
              <a:defRPr sz="1100">
                <a:solidFill>
                  <a:srgbClr val="173B32"/>
                </a:solidFill>
              </a:defRPr>
            </a:pPr>
            <a:r>
              <a:t>2. In-Process Edge ML Engine: Built mathematical ML fallback engine ensuring 100% platform availability on Vercel with $0 server cost.</a:t>
            </a:r>
          </a:p>
          <a:p>
            <a:pPr>
              <a:spcBef>
                <a:spcPts val="1000"/>
              </a:spcBef>
              <a:defRPr sz="1100">
                <a:solidFill>
                  <a:srgbClr val="173B32"/>
                </a:solidFill>
              </a:defRPr>
            </a:pPr>
            <a:r>
              <a:t>3. Dynamic Session Cookie Store: Integrated cs_claim_{id} cookies for 100% exact 1:1 data persistence and zero data mix-up.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731520"/>
          </a:xfrm>
          <a:prstGeom prst="rect">
            <a:avLst/>
          </a:prstGeom>
          <a:noFill/>
        </p:spPr>
        <p:txBody>
          <a:bodyPr wrap="square">
            <a:spAutoFit/>
          </a:bodyPr>
          <a:lstStyle/>
          <a:p>
            <a:pPr>
              <a:defRPr sz="2800" b="1">
                <a:solidFill>
                  <a:srgbClr val="173B32"/>
                </a:solidFill>
              </a:defRPr>
            </a:pPr>
            <a:r>
              <a:t>MODEL EVALUATION, LIMITATIONS &amp; FUTURE SCOPE</a:t>
            </a:r>
          </a:p>
        </p:txBody>
      </p:sp>
      <p:sp>
        <p:nvSpPr>
          <p:cNvPr id="4" name="Rounded Rectangle 3"/>
          <p:cNvSpPr/>
          <p:nvPr/>
        </p:nvSpPr>
        <p:spPr>
          <a:xfrm>
            <a:off x="548640" y="1371600"/>
            <a:ext cx="5303520" cy="4846320"/>
          </a:xfrm>
          <a:prstGeom prst="roundRect">
            <a:avLst/>
          </a:prstGeom>
          <a:solidFill>
            <a:srgbClr val="FFFFFF"/>
          </a:solidFill>
          <a:ln w="25400">
            <a:solidFill>
              <a:srgbClr val="A3E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36192"/>
            <a:ext cx="4937760" cy="457200"/>
          </a:xfrm>
          <a:prstGeom prst="rect">
            <a:avLst/>
          </a:prstGeom>
          <a:noFill/>
        </p:spPr>
        <p:txBody>
          <a:bodyPr wrap="square">
            <a:spAutoFit/>
          </a:bodyPr>
          <a:lstStyle/>
          <a:p>
            <a:pPr>
              <a:defRPr sz="1600" b="1">
                <a:solidFill>
                  <a:srgbClr val="173B32"/>
                </a:solidFill>
              </a:defRPr>
            </a:pPr>
            <a:r>
              <a:t>📊 Model Metrics &amp; Lab Work (40 Marks)</a:t>
            </a:r>
          </a:p>
        </p:txBody>
      </p:sp>
      <p:sp>
        <p:nvSpPr>
          <p:cNvPr id="6" name="TextBox 5"/>
          <p:cNvSpPr txBox="1"/>
          <p:nvPr/>
        </p:nvSpPr>
        <p:spPr>
          <a:xfrm>
            <a:off x="731520" y="2011680"/>
            <a:ext cx="4937760" cy="4023360"/>
          </a:xfrm>
          <a:prstGeom prst="rect">
            <a:avLst/>
          </a:prstGeom>
          <a:noFill/>
        </p:spPr>
        <p:txBody>
          <a:bodyPr wrap="square">
            <a:spAutoFit/>
          </a:bodyPr>
          <a:lstStyle/>
          <a:p>
            <a:pPr>
              <a:defRPr sz="1100">
                <a:solidFill>
                  <a:srgbClr val="101412"/>
                </a:solidFill>
              </a:defRPr>
            </a:pPr>
            <a:r>
              <a:t>• XGBoost Fraud Model: 94.2% ROC-AUC score on 1,000-row vehicle insurance dataset.</a:t>
            </a:r>
          </a:p>
          <a:p>
            <a:pPr>
              <a:spcBef>
                <a:spcPts val="800"/>
              </a:spcBef>
              <a:defRPr sz="1100">
                <a:solidFill>
                  <a:srgbClr val="101412"/>
                </a:solidFill>
              </a:defRPr>
            </a:pPr>
            <a:r>
              <a:t>• 5-Fold Cross Validation: Mean Accuracy = 92.4%, Precision = 89.6%, Recall = 91.2%.</a:t>
            </a:r>
          </a:p>
          <a:p>
            <a:pPr>
              <a:spcBef>
                <a:spcPts val="800"/>
              </a:spcBef>
              <a:defRPr sz="1100">
                <a:solidFill>
                  <a:srgbClr val="101412"/>
                </a:solidFill>
              </a:defRPr>
            </a:pPr>
            <a:r>
              <a:t>• NLP Deception Model: 88.5% precision in identifying suspicious narrative keyphrases.</a:t>
            </a:r>
          </a:p>
          <a:p>
            <a:pPr>
              <a:spcBef>
                <a:spcPts val="800"/>
              </a:spcBef>
              <a:defRPr sz="1100">
                <a:solidFill>
                  <a:srgbClr val="101412"/>
                </a:solidFill>
              </a:defRPr>
            </a:pPr>
            <a:r>
              <a:t>• Code Quality &amp; Safety: npx tsc --noEmit passes with 0 errors across 13 production pages.</a:t>
            </a:r>
          </a:p>
        </p:txBody>
      </p:sp>
      <p:sp>
        <p:nvSpPr>
          <p:cNvPr id="7" name="Rounded Rectangle 6"/>
          <p:cNvSpPr/>
          <p:nvPr/>
        </p:nvSpPr>
        <p:spPr>
          <a:xfrm>
            <a:off x="6217920" y="1371600"/>
            <a:ext cx="5303520" cy="4846320"/>
          </a:xfrm>
          <a:prstGeom prst="roundRect">
            <a:avLst/>
          </a:prstGeom>
          <a:solidFill>
            <a:srgbClr val="FFFFFF"/>
          </a:solidFill>
          <a:ln w="25400">
            <a:solidFill>
              <a:srgbClr val="FF7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36192"/>
            <a:ext cx="4937760" cy="457200"/>
          </a:xfrm>
          <a:prstGeom prst="rect">
            <a:avLst/>
          </a:prstGeom>
          <a:noFill/>
        </p:spPr>
        <p:txBody>
          <a:bodyPr wrap="square">
            <a:spAutoFit/>
          </a:bodyPr>
          <a:lstStyle/>
          <a:p>
            <a:pPr>
              <a:defRPr sz="1600" b="1">
                <a:solidFill>
                  <a:srgbClr val="173B32"/>
                </a:solidFill>
              </a:defRPr>
            </a:pPr>
            <a:r>
              <a:t>🔮 Limitations &amp; Future Scope</a:t>
            </a:r>
          </a:p>
        </p:txBody>
      </p:sp>
      <p:sp>
        <p:nvSpPr>
          <p:cNvPr id="9" name="TextBox 8"/>
          <p:cNvSpPr txBox="1"/>
          <p:nvPr/>
        </p:nvSpPr>
        <p:spPr>
          <a:xfrm>
            <a:off x="6400800" y="2011680"/>
            <a:ext cx="4937760" cy="4023360"/>
          </a:xfrm>
          <a:prstGeom prst="rect">
            <a:avLst/>
          </a:prstGeom>
          <a:noFill/>
        </p:spPr>
        <p:txBody>
          <a:bodyPr wrap="square">
            <a:spAutoFit/>
          </a:bodyPr>
          <a:lstStyle/>
          <a:p>
            <a:pPr>
              <a:defRPr sz="1100">
                <a:solidFill>
                  <a:srgbClr val="101412"/>
                </a:solidFill>
              </a:defRPr>
            </a:pPr>
            <a:r>
              <a:t>• Limitations: AI provides decision support (not final authority); CV damage accuracy varies with lighting.</a:t>
            </a:r>
          </a:p>
          <a:p>
            <a:pPr>
              <a:spcBef>
                <a:spcPts val="800"/>
              </a:spcBef>
              <a:defRPr sz="1100">
                <a:solidFill>
                  <a:srgbClr val="101412"/>
                </a:solidFill>
              </a:defRPr>
            </a:pPr>
            <a:r>
              <a:t>• Future Expansion 1: Neo4j Graph Analytics for organized fraud-ring detection.</a:t>
            </a:r>
          </a:p>
          <a:p>
            <a:pPr>
              <a:spcBef>
                <a:spcPts val="800"/>
              </a:spcBef>
              <a:defRPr sz="1100">
                <a:solidFill>
                  <a:srgbClr val="101412"/>
                </a:solidFill>
              </a:defRPr>
            </a:pPr>
            <a:r>
              <a:t>• Future Expansion 2: OCR Document Scanner for automatic DL/RC registration paper extraction.</a:t>
            </a:r>
          </a:p>
          <a:p>
            <a:pPr>
              <a:spcBef>
                <a:spcPts val="800"/>
              </a:spcBef>
              <a:defRPr sz="1100">
                <a:solidFill>
                  <a:srgbClr val="101412"/>
                </a:solidFill>
              </a:defRPr>
            </a:pPr>
            <a:r>
              <a:t>• Future Expansion 3: OBD-II Telematics IoT crash sensor integration.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1097280"/>
          </a:xfrm>
          <a:prstGeom prst="rect">
            <a:avLst/>
          </a:prstGeom>
          <a:noFill/>
        </p:spPr>
        <p:txBody>
          <a:bodyPr wrap="square">
            <a:spAutoFit/>
          </a:bodyPr>
          <a:lstStyle/>
          <a:p>
            <a:pPr algn="ctr">
              <a:defRPr sz="4400" b="1">
                <a:solidFill>
                  <a:srgbClr val="173B32"/>
                </a:solidFill>
              </a:defRPr>
            </a:pPr>
            <a:r>
              <a:t>THANK YOU</a:t>
            </a:r>
          </a:p>
          <a:p>
            <a:pPr algn="ctr">
              <a:spcBef>
                <a:spcPts val="600"/>
              </a:spcBef>
              <a:defRPr sz="1800" b="1">
                <a:solidFill>
                  <a:srgbClr val="101412"/>
                </a:solidFill>
              </a:defRPr>
            </a:pPr>
            <a:r>
              <a:t>Presented by Group 4</a:t>
            </a:r>
          </a:p>
        </p:txBody>
      </p:sp>
      <p:sp>
        <p:nvSpPr>
          <p:cNvPr id="4" name="Rounded Rectangle 3"/>
          <p:cNvSpPr/>
          <p:nvPr/>
        </p:nvSpPr>
        <p:spPr>
          <a:xfrm>
            <a:off x="548640" y="2377440"/>
            <a:ext cx="2560320" cy="2011680"/>
          </a:xfrm>
          <a:prstGeom prst="roundRect">
            <a:avLst/>
          </a:prstGeom>
          <a:solidFill>
            <a:srgbClr val="FFFFFF"/>
          </a:solidFill>
          <a:ln w="25400">
            <a:solidFill>
              <a:srgbClr val="FF7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743200"/>
            <a:ext cx="2377440" cy="1463040"/>
          </a:xfrm>
          <a:prstGeom prst="rect">
            <a:avLst/>
          </a:prstGeom>
          <a:noFill/>
        </p:spPr>
        <p:txBody>
          <a:bodyPr wrap="square">
            <a:spAutoFit/>
          </a:bodyPr>
          <a:lstStyle/>
          <a:p>
            <a:pPr algn="ctr">
              <a:defRPr sz="1600" b="1">
                <a:solidFill>
                  <a:srgbClr val="173B32"/>
                </a:solidFill>
              </a:defRPr>
            </a:pPr>
            <a:r>
              <a:t>Shatakshi Pandey</a:t>
            </a:r>
          </a:p>
          <a:p>
            <a:pPr algn="ctr">
              <a:spcBef>
                <a:spcPts val="800"/>
              </a:spcBef>
              <a:defRPr sz="1200" b="1">
                <a:solidFill>
                  <a:srgbClr val="475569"/>
                </a:solidFill>
              </a:defRPr>
            </a:pPr>
            <a:r>
              <a:t>Roll No: 1</a:t>
            </a:r>
          </a:p>
        </p:txBody>
      </p:sp>
      <p:sp>
        <p:nvSpPr>
          <p:cNvPr id="6" name="Rounded Rectangle 5"/>
          <p:cNvSpPr/>
          <p:nvPr/>
        </p:nvSpPr>
        <p:spPr>
          <a:xfrm>
            <a:off x="3383280" y="2377440"/>
            <a:ext cx="2560320" cy="2011680"/>
          </a:xfrm>
          <a:prstGeom prst="roundRect">
            <a:avLst/>
          </a:prstGeom>
          <a:solidFill>
            <a:srgbClr val="FFFFFF"/>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0" y="2743200"/>
            <a:ext cx="2377440" cy="1463040"/>
          </a:xfrm>
          <a:prstGeom prst="rect">
            <a:avLst/>
          </a:prstGeom>
          <a:noFill/>
        </p:spPr>
        <p:txBody>
          <a:bodyPr wrap="square">
            <a:spAutoFit/>
          </a:bodyPr>
          <a:lstStyle/>
          <a:p>
            <a:pPr algn="ctr">
              <a:defRPr sz="1600" b="1">
                <a:solidFill>
                  <a:srgbClr val="173B32"/>
                </a:solidFill>
              </a:defRPr>
            </a:pPr>
            <a:r>
              <a:t>Nihar Sahu</a:t>
            </a:r>
          </a:p>
          <a:p>
            <a:pPr algn="ctr">
              <a:spcBef>
                <a:spcPts val="800"/>
              </a:spcBef>
              <a:defRPr sz="1200" b="1">
                <a:solidFill>
                  <a:srgbClr val="475569"/>
                </a:solidFill>
              </a:defRPr>
            </a:pPr>
            <a:r>
              <a:t>Roll No: 10</a:t>
            </a:r>
          </a:p>
        </p:txBody>
      </p:sp>
      <p:sp>
        <p:nvSpPr>
          <p:cNvPr id="8" name="Rounded Rectangle 7"/>
          <p:cNvSpPr/>
          <p:nvPr/>
        </p:nvSpPr>
        <p:spPr>
          <a:xfrm>
            <a:off x="6217920" y="2377440"/>
            <a:ext cx="2560320" cy="2011680"/>
          </a:xfrm>
          <a:prstGeom prst="roundRect">
            <a:avLst/>
          </a:prstGeom>
          <a:solidFill>
            <a:srgbClr val="FFFFFF"/>
          </a:solidFill>
          <a:ln w="25400">
            <a:solidFill>
              <a:srgbClr val="A3E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2743200"/>
            <a:ext cx="2377440" cy="1463040"/>
          </a:xfrm>
          <a:prstGeom prst="rect">
            <a:avLst/>
          </a:prstGeom>
          <a:noFill/>
        </p:spPr>
        <p:txBody>
          <a:bodyPr wrap="square">
            <a:spAutoFit/>
          </a:bodyPr>
          <a:lstStyle/>
          <a:p>
            <a:pPr algn="ctr">
              <a:defRPr sz="1600" b="1">
                <a:solidFill>
                  <a:srgbClr val="173B32"/>
                </a:solidFill>
              </a:defRPr>
            </a:pPr>
            <a:r>
              <a:t>Shaun Shaju</a:t>
            </a:r>
          </a:p>
          <a:p>
            <a:pPr algn="ctr">
              <a:spcBef>
                <a:spcPts val="800"/>
              </a:spcBef>
              <a:defRPr sz="1200" b="1">
                <a:solidFill>
                  <a:srgbClr val="475569"/>
                </a:solidFill>
              </a:defRPr>
            </a:pPr>
            <a:r>
              <a:t>Roll No: 12</a:t>
            </a:r>
          </a:p>
        </p:txBody>
      </p:sp>
      <p:sp>
        <p:nvSpPr>
          <p:cNvPr id="10" name="Rounded Rectangle 9"/>
          <p:cNvSpPr/>
          <p:nvPr/>
        </p:nvSpPr>
        <p:spPr>
          <a:xfrm>
            <a:off x="9052560" y="2377440"/>
            <a:ext cx="2560320" cy="2011680"/>
          </a:xfrm>
          <a:prstGeom prst="roundRect">
            <a:avLst/>
          </a:prstGeom>
          <a:solidFill>
            <a:srgbClr val="FFFFFF"/>
          </a:solidFill>
          <a:ln w="25400">
            <a:solidFill>
              <a:srgbClr val="FF7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0" y="2743200"/>
            <a:ext cx="2377440" cy="1463040"/>
          </a:xfrm>
          <a:prstGeom prst="rect">
            <a:avLst/>
          </a:prstGeom>
          <a:noFill/>
        </p:spPr>
        <p:txBody>
          <a:bodyPr wrap="square">
            <a:spAutoFit/>
          </a:bodyPr>
          <a:lstStyle/>
          <a:p>
            <a:pPr algn="ctr">
              <a:defRPr sz="1600" b="1">
                <a:solidFill>
                  <a:srgbClr val="173B32"/>
                </a:solidFill>
              </a:defRPr>
            </a:pPr>
            <a:r>
              <a:t>Firdaus Khan</a:t>
            </a:r>
          </a:p>
          <a:p>
            <a:pPr algn="ctr">
              <a:spcBef>
                <a:spcPts val="800"/>
              </a:spcBef>
              <a:defRPr sz="1200" b="1">
                <a:solidFill>
                  <a:srgbClr val="475569"/>
                </a:solidFill>
              </a:defRPr>
            </a:pPr>
            <a:r>
              <a:t>Roll No: 18</a:t>
            </a:r>
          </a:p>
        </p:txBody>
      </p:sp>
      <p:sp>
        <p:nvSpPr>
          <p:cNvPr id="12" name="Rounded Rectangle 11"/>
          <p:cNvSpPr/>
          <p:nvPr/>
        </p:nvSpPr>
        <p:spPr>
          <a:xfrm>
            <a:off x="3749039" y="4754880"/>
            <a:ext cx="4693615" cy="1463040"/>
          </a:xfrm>
          <a:prstGeom prst="roundRect">
            <a:avLst/>
          </a:prstGeom>
          <a:solidFill>
            <a:srgbClr val="FFFFFF"/>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0" y="4937760"/>
            <a:ext cx="4510735" cy="1097280"/>
          </a:xfrm>
          <a:prstGeom prst="rect">
            <a:avLst/>
          </a:prstGeom>
          <a:noFill/>
        </p:spPr>
        <p:txBody>
          <a:bodyPr wrap="square">
            <a:spAutoFit/>
          </a:bodyPr>
          <a:lstStyle/>
          <a:p>
            <a:pPr algn="ctr">
              <a:defRPr sz="1100" b="1">
                <a:solidFill>
                  <a:srgbClr val="A3E635"/>
                </a:solidFill>
              </a:defRPr>
            </a:pPr>
            <a:r>
              <a:t>UNDER THE GUIDANCE OF</a:t>
            </a:r>
          </a:p>
          <a:p>
            <a:pPr algn="ctr">
              <a:spcBef>
                <a:spcPts val="600"/>
              </a:spcBef>
              <a:defRPr sz="2000" b="1">
                <a:solidFill>
                  <a:srgbClr val="FFFFFF"/>
                </a:solidFill>
              </a:defRPr>
            </a:pPr>
            <a:r>
              <a:t>Prof. Yogesh Naik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